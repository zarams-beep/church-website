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2" r:id="rId15"/>
    <p:sldId id="283" r:id="rId16"/>
    <p:sldId id="284" r:id="rId17"/>
    <p:sldId id="285" r:id="rId18"/>
    <p:sldId id="269" r:id="rId19"/>
    <p:sldId id="270" r:id="rId20"/>
    <p:sldId id="271" r:id="rId21"/>
    <p:sldId id="272" r:id="rId22"/>
    <p:sldId id="273" r:id="rId23"/>
    <p:sldId id="274" r:id="rId24"/>
    <p:sldId id="275" r:id="rId25"/>
    <p:sldId id="276" r:id="rId26"/>
    <p:sldId id="277" r:id="rId27"/>
    <p:sldId id="278" r:id="rId28"/>
    <p:sldId id="287" r:id="rId29"/>
    <p:sldId id="281" r:id="rId30"/>
    <p:sldId id="28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4A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0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2F0FCD-DFC9-4E28-A0AF-2446AF13F5A4}" type="datetimeFigureOut">
              <a:rPr lang="en-GB" smtClean="0"/>
              <a:t>07/08/2025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EAD2AD-9208-4EBA-BCC9-26EACB64B537}" type="slidenum">
              <a:rPr lang="en-GB" smtClean="0"/>
              <a:t>‹#›</a:t>
            </a:fld>
            <a:endParaRPr lang="en-GB"/>
          </a:p>
        </p:txBody>
      </p:sp>
    </p:spTree>
    <p:extLst>
      <p:ext uri="{BB962C8B-B14F-4D97-AF65-F5344CB8AC3E}">
        <p14:creationId xmlns:p14="http://schemas.microsoft.com/office/powerpoint/2010/main" val="3910919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155BE1-495D-4D2A-BB5E-1A9CC5998C97}"/>
              </a:ext>
            </a:extLst>
          </p:cNvPr>
          <p:cNvSpPr/>
          <p:nvPr userDrawn="1"/>
        </p:nvSpPr>
        <p:spPr>
          <a:xfrm>
            <a:off x="0" y="5621685"/>
            <a:ext cx="12192000" cy="1272988"/>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FE0103B-AFF2-41D4-9FB8-C1F61E138E64}"/>
              </a:ext>
            </a:extLst>
          </p:cNvPr>
          <p:cNvSpPr/>
          <p:nvPr userDrawn="1"/>
        </p:nvSpPr>
        <p:spPr>
          <a:xfrm>
            <a:off x="753035" y="582705"/>
            <a:ext cx="10685929" cy="5773645"/>
          </a:xfrm>
          <a:prstGeom prst="rect">
            <a:avLst/>
          </a:prstGeom>
          <a:solidFill>
            <a:schemeClr val="bg1"/>
          </a:solidFill>
          <a:ln>
            <a:noFill/>
          </a:ln>
          <a:effectLst>
            <a:outerShdw blurRad="254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17308DD-AA56-4FED-9DB1-FF2AD9D5F7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10" name="Rectangle 9">
            <a:extLst>
              <a:ext uri="{FF2B5EF4-FFF2-40B4-BE49-F238E27FC236}">
                <a16:creationId xmlns:a16="http://schemas.microsoft.com/office/drawing/2014/main" id="{9363CC83-A4EC-457C-B2A7-5D44A78E82AA}"/>
              </a:ext>
            </a:extLst>
          </p:cNvPr>
          <p:cNvSpPr/>
          <p:nvPr userDrawn="1"/>
        </p:nvSpPr>
        <p:spPr>
          <a:xfrm>
            <a:off x="753035" y="4697506"/>
            <a:ext cx="188259" cy="1712258"/>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250B006-6838-4C61-89BC-0F301BA857EF}"/>
              </a:ext>
            </a:extLst>
          </p:cNvPr>
          <p:cNvPicPr>
            <a:picLocks noChangeAspect="1"/>
          </p:cNvPicPr>
          <p:nvPr userDrawn="1"/>
        </p:nvPicPr>
        <p:blipFill>
          <a:blip r:embed="rId2">
            <a:alphaModFix amt="26000"/>
            <a:extLst>
              <a:ext uri="{28A0092B-C50C-407E-A947-70E740481C1C}">
                <a14:useLocalDpi xmlns:a14="http://schemas.microsoft.com/office/drawing/2010/main" val="0"/>
              </a:ext>
            </a:extLst>
          </a:blip>
          <a:stretch>
            <a:fillRect/>
          </a:stretch>
        </p:blipFill>
        <p:spPr>
          <a:xfrm>
            <a:off x="941294" y="1954292"/>
            <a:ext cx="10234706" cy="2743214"/>
          </a:xfrm>
          <a:prstGeom prst="rect">
            <a:avLst/>
          </a:prstGeom>
          <a:effectLst>
            <a:outerShdw dist="50800" sx="1000" sy="1000" algn="ctr" rotWithShape="0">
              <a:srgbClr val="000000"/>
            </a:outerShdw>
          </a:effectLst>
        </p:spPr>
      </p:pic>
      <p:sp>
        <p:nvSpPr>
          <p:cNvPr id="4" name="Date Placeholder 3">
            <a:extLst>
              <a:ext uri="{FF2B5EF4-FFF2-40B4-BE49-F238E27FC236}">
                <a16:creationId xmlns:a16="http://schemas.microsoft.com/office/drawing/2014/main" id="{19115DF0-E870-4A27-AA7D-BC758CABC746}"/>
              </a:ext>
            </a:extLst>
          </p:cNvPr>
          <p:cNvSpPr>
            <a:spLocks noGrp="1"/>
          </p:cNvSpPr>
          <p:nvPr>
            <p:ph type="dt" sz="half" idx="10"/>
          </p:nvPr>
        </p:nvSpPr>
        <p:spPr/>
        <p:txBody>
          <a:bodyPr/>
          <a:lstStyle/>
          <a:p>
            <a:fld id="{3E356F93-7E71-4582-839B-071B15ECFA10}" type="datetime1">
              <a:rPr lang="en-GB" smtClean="0"/>
              <a:t>07/08/2025</a:t>
            </a:fld>
            <a:endParaRPr lang="en-GB"/>
          </a:p>
        </p:txBody>
      </p:sp>
      <p:sp>
        <p:nvSpPr>
          <p:cNvPr id="5" name="Footer Placeholder 4">
            <a:extLst>
              <a:ext uri="{FF2B5EF4-FFF2-40B4-BE49-F238E27FC236}">
                <a16:creationId xmlns:a16="http://schemas.microsoft.com/office/drawing/2014/main" id="{F7C6C16A-B19C-4888-82BE-1B0DA1070D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20C139-625F-4787-B958-4F2394DAE077}"/>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2036777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F39514C-E933-489E-BCB6-17B150F3E978}"/>
              </a:ext>
            </a:extLst>
          </p:cNvPr>
          <p:cNvSpPr txBox="1"/>
          <p:nvPr userDrawn="1"/>
        </p:nvSpPr>
        <p:spPr>
          <a:xfrm>
            <a:off x="2294965" y="6329660"/>
            <a:ext cx="7602070" cy="369332"/>
          </a:xfrm>
          <a:prstGeom prst="rect">
            <a:avLst/>
          </a:prstGeom>
          <a:noFill/>
        </p:spPr>
        <p:txBody>
          <a:bodyPr wrap="square" rtlCol="0">
            <a:spAutoFit/>
          </a:bodyPr>
          <a:lstStyle/>
          <a:p>
            <a:r>
              <a:rPr lang="en-US" i="1" dirty="0"/>
              <a:t>Disclaimer: This training material belongs to </a:t>
            </a:r>
            <a:r>
              <a:rPr lang="en-US" i="1" dirty="0" err="1"/>
              <a:t>TechCrush</a:t>
            </a:r>
            <a:r>
              <a:rPr lang="en-US" i="1" dirty="0"/>
              <a:t> and shouldn’t be shared</a:t>
            </a:r>
          </a:p>
        </p:txBody>
      </p:sp>
      <p:sp>
        <p:nvSpPr>
          <p:cNvPr id="4" name="Date Placeholder 3">
            <a:extLst>
              <a:ext uri="{FF2B5EF4-FFF2-40B4-BE49-F238E27FC236}">
                <a16:creationId xmlns:a16="http://schemas.microsoft.com/office/drawing/2014/main" id="{51641B98-8E4D-4C33-A065-910DE9EA1A61}"/>
              </a:ext>
            </a:extLst>
          </p:cNvPr>
          <p:cNvSpPr>
            <a:spLocks noGrp="1"/>
          </p:cNvSpPr>
          <p:nvPr>
            <p:ph type="dt" sz="half" idx="10"/>
          </p:nvPr>
        </p:nvSpPr>
        <p:spPr/>
        <p:txBody>
          <a:bodyPr/>
          <a:lstStyle/>
          <a:p>
            <a:fld id="{0D8AD88B-99C2-4950-801F-0718EEA9FFE4}" type="datetime1">
              <a:rPr lang="en-GB" smtClean="0"/>
              <a:t>07/08/2025</a:t>
            </a:fld>
            <a:endParaRPr lang="en-GB"/>
          </a:p>
        </p:txBody>
      </p:sp>
      <p:sp>
        <p:nvSpPr>
          <p:cNvPr id="5" name="Footer Placeholder 4">
            <a:extLst>
              <a:ext uri="{FF2B5EF4-FFF2-40B4-BE49-F238E27FC236}">
                <a16:creationId xmlns:a16="http://schemas.microsoft.com/office/drawing/2014/main" id="{D7AA0424-E472-4D62-BF71-F3C195C4D68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710BE81-FE8A-4FBF-9E28-6819FED17AA4}"/>
              </a:ext>
            </a:extLst>
          </p:cNvPr>
          <p:cNvSpPr>
            <a:spLocks noGrp="1"/>
          </p:cNvSpPr>
          <p:nvPr>
            <p:ph type="sldNum" sz="quarter" idx="12"/>
          </p:nvPr>
        </p:nvSpPr>
        <p:spPr/>
        <p:txBody>
          <a:bodyPr/>
          <a:lstStyle/>
          <a:p>
            <a:fld id="{D31C74E5-D250-4BDE-BB1A-AE4DD479CC99}" type="slidenum">
              <a:rPr lang="en-GB" smtClean="0"/>
              <a:t>‹#›</a:t>
            </a:fld>
            <a:endParaRPr lang="en-GB"/>
          </a:p>
        </p:txBody>
      </p:sp>
      <p:sp>
        <p:nvSpPr>
          <p:cNvPr id="7" name="Rectangle 6">
            <a:extLst>
              <a:ext uri="{FF2B5EF4-FFF2-40B4-BE49-F238E27FC236}">
                <a16:creationId xmlns:a16="http://schemas.microsoft.com/office/drawing/2014/main" id="{31677BFE-83BF-44CF-A5F8-9BFC6044DF3A}"/>
              </a:ext>
            </a:extLst>
          </p:cNvPr>
          <p:cNvSpPr/>
          <p:nvPr userDrawn="1"/>
        </p:nvSpPr>
        <p:spPr>
          <a:xfrm>
            <a:off x="0" y="4477"/>
            <a:ext cx="10067365" cy="488589"/>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2B63735-20F2-46B6-81D9-47D74EBEA6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9" name="Rectangle 8">
            <a:extLst>
              <a:ext uri="{FF2B5EF4-FFF2-40B4-BE49-F238E27FC236}">
                <a16:creationId xmlns:a16="http://schemas.microsoft.com/office/drawing/2014/main" id="{C2C93777-823B-436C-8338-3B63D5B0A3EB}"/>
              </a:ext>
            </a:extLst>
          </p:cNvPr>
          <p:cNvSpPr/>
          <p:nvPr userDrawn="1"/>
        </p:nvSpPr>
        <p:spPr>
          <a:xfrm>
            <a:off x="-3" y="528340"/>
            <a:ext cx="10067365" cy="16194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DB166CA-C4F3-4AC4-A78F-564BF75F80B6}"/>
              </a:ext>
            </a:extLst>
          </p:cNvPr>
          <p:cNvPicPr>
            <a:picLocks noChangeAspect="1"/>
          </p:cNvPicPr>
          <p:nvPr userDrawn="1"/>
        </p:nvPicPr>
        <p:blipFill>
          <a:blip r:embed="rId2">
            <a:alphaModFix amt="26000"/>
            <a:extLst>
              <a:ext uri="{28A0092B-C50C-407E-A947-70E740481C1C}">
                <a14:useLocalDpi xmlns:a14="http://schemas.microsoft.com/office/drawing/2010/main" val="0"/>
              </a:ext>
            </a:extLst>
          </a:blip>
          <a:stretch>
            <a:fillRect/>
          </a:stretch>
        </p:blipFill>
        <p:spPr>
          <a:xfrm>
            <a:off x="865293" y="1892758"/>
            <a:ext cx="10541991" cy="2804748"/>
          </a:xfrm>
          <a:prstGeom prst="rect">
            <a:avLst/>
          </a:prstGeom>
          <a:effectLst>
            <a:outerShdw dist="50800" sx="1000" sy="1000" algn="ctr" rotWithShape="0">
              <a:srgbClr val="000000"/>
            </a:outerShdw>
          </a:effectLst>
        </p:spPr>
      </p:pic>
    </p:spTree>
    <p:extLst>
      <p:ext uri="{BB962C8B-B14F-4D97-AF65-F5344CB8AC3E}">
        <p14:creationId xmlns:p14="http://schemas.microsoft.com/office/powerpoint/2010/main" val="4182781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9596BF5-D84B-4FC0-BCFE-603F935E26D0}"/>
              </a:ext>
            </a:extLst>
          </p:cNvPr>
          <p:cNvSpPr txBox="1"/>
          <p:nvPr userDrawn="1"/>
        </p:nvSpPr>
        <p:spPr>
          <a:xfrm>
            <a:off x="2294965" y="6356350"/>
            <a:ext cx="7602070" cy="369332"/>
          </a:xfrm>
          <a:prstGeom prst="rect">
            <a:avLst/>
          </a:prstGeom>
          <a:noFill/>
        </p:spPr>
        <p:txBody>
          <a:bodyPr wrap="square" rtlCol="0">
            <a:spAutoFit/>
          </a:bodyPr>
          <a:lstStyle/>
          <a:p>
            <a:r>
              <a:rPr lang="en-US" i="1" dirty="0"/>
              <a:t>Disclaimer: This training material belongs to </a:t>
            </a:r>
            <a:r>
              <a:rPr lang="en-US" i="1" dirty="0" err="1"/>
              <a:t>TechCrush</a:t>
            </a:r>
            <a:r>
              <a:rPr lang="en-US" i="1" dirty="0"/>
              <a:t> and shouldn’t be shared</a:t>
            </a:r>
          </a:p>
        </p:txBody>
      </p:sp>
      <p:sp>
        <p:nvSpPr>
          <p:cNvPr id="4" name="Date Placeholder 3">
            <a:extLst>
              <a:ext uri="{FF2B5EF4-FFF2-40B4-BE49-F238E27FC236}">
                <a16:creationId xmlns:a16="http://schemas.microsoft.com/office/drawing/2014/main" id="{6CF9B01B-EDDE-41EA-9533-B39ECAAF50F6}"/>
              </a:ext>
            </a:extLst>
          </p:cNvPr>
          <p:cNvSpPr>
            <a:spLocks noGrp="1"/>
          </p:cNvSpPr>
          <p:nvPr>
            <p:ph type="dt" sz="half" idx="10"/>
          </p:nvPr>
        </p:nvSpPr>
        <p:spPr/>
        <p:txBody>
          <a:bodyPr/>
          <a:lstStyle/>
          <a:p>
            <a:fld id="{0CB89328-D05F-4F32-8789-9A0E10989104}" type="datetime1">
              <a:rPr lang="en-GB" smtClean="0"/>
              <a:t>07/08/2025</a:t>
            </a:fld>
            <a:endParaRPr lang="en-GB"/>
          </a:p>
        </p:txBody>
      </p:sp>
      <p:sp>
        <p:nvSpPr>
          <p:cNvPr id="5" name="Footer Placeholder 4">
            <a:extLst>
              <a:ext uri="{FF2B5EF4-FFF2-40B4-BE49-F238E27FC236}">
                <a16:creationId xmlns:a16="http://schemas.microsoft.com/office/drawing/2014/main" id="{282AE9F4-1A04-4A05-A768-2C4405BE21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70ECCF-D25C-4B39-AADF-09AF6517A832}"/>
              </a:ext>
            </a:extLst>
          </p:cNvPr>
          <p:cNvSpPr>
            <a:spLocks noGrp="1"/>
          </p:cNvSpPr>
          <p:nvPr>
            <p:ph type="sldNum" sz="quarter" idx="12"/>
          </p:nvPr>
        </p:nvSpPr>
        <p:spPr/>
        <p:txBody>
          <a:bodyPr/>
          <a:lstStyle/>
          <a:p>
            <a:fld id="{D31C74E5-D250-4BDE-BB1A-AE4DD479CC99}" type="slidenum">
              <a:rPr lang="en-GB" smtClean="0"/>
              <a:t>‹#›</a:t>
            </a:fld>
            <a:endParaRPr lang="en-GB"/>
          </a:p>
        </p:txBody>
      </p:sp>
      <p:sp>
        <p:nvSpPr>
          <p:cNvPr id="7" name="Rectangle 6">
            <a:extLst>
              <a:ext uri="{FF2B5EF4-FFF2-40B4-BE49-F238E27FC236}">
                <a16:creationId xmlns:a16="http://schemas.microsoft.com/office/drawing/2014/main" id="{2446D171-31FA-4D97-AFD1-F7C78FDAA5D5}"/>
              </a:ext>
            </a:extLst>
          </p:cNvPr>
          <p:cNvSpPr/>
          <p:nvPr userDrawn="1"/>
        </p:nvSpPr>
        <p:spPr>
          <a:xfrm>
            <a:off x="0" y="152400"/>
            <a:ext cx="3030071" cy="197231"/>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72FEE50-B784-4F46-9701-FBE02E29C6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9" name="Rectangle 8">
            <a:extLst>
              <a:ext uri="{FF2B5EF4-FFF2-40B4-BE49-F238E27FC236}">
                <a16:creationId xmlns:a16="http://schemas.microsoft.com/office/drawing/2014/main" id="{E30B9AF7-4783-4661-9DE1-E7A934624830}"/>
              </a:ext>
            </a:extLst>
          </p:cNvPr>
          <p:cNvSpPr/>
          <p:nvPr userDrawn="1"/>
        </p:nvSpPr>
        <p:spPr>
          <a:xfrm>
            <a:off x="3397623" y="152400"/>
            <a:ext cx="3478306" cy="1972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4F3525-7944-490E-B926-455FE0403BF7}"/>
              </a:ext>
            </a:extLst>
          </p:cNvPr>
          <p:cNvSpPr/>
          <p:nvPr userDrawn="1"/>
        </p:nvSpPr>
        <p:spPr>
          <a:xfrm>
            <a:off x="7243482" y="152400"/>
            <a:ext cx="2962961" cy="197231"/>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AEF991D-6CE7-46D3-8517-293A4DC977B7}"/>
              </a:ext>
            </a:extLst>
          </p:cNvPr>
          <p:cNvPicPr>
            <a:picLocks noChangeAspect="1"/>
          </p:cNvPicPr>
          <p:nvPr userDrawn="1"/>
        </p:nvPicPr>
        <p:blipFill>
          <a:blip r:embed="rId2">
            <a:alphaModFix amt="26000"/>
            <a:extLst>
              <a:ext uri="{28A0092B-C50C-407E-A947-70E740481C1C}">
                <a14:useLocalDpi xmlns:a14="http://schemas.microsoft.com/office/drawing/2010/main" val="0"/>
              </a:ext>
            </a:extLst>
          </a:blip>
          <a:stretch>
            <a:fillRect/>
          </a:stretch>
        </p:blipFill>
        <p:spPr>
          <a:xfrm>
            <a:off x="865293" y="1892758"/>
            <a:ext cx="10541991" cy="2804748"/>
          </a:xfrm>
          <a:prstGeom prst="rect">
            <a:avLst/>
          </a:prstGeom>
          <a:effectLst>
            <a:outerShdw dist="50800" sx="1000" sy="1000" algn="ctr" rotWithShape="0">
              <a:srgbClr val="000000"/>
            </a:outerShdw>
          </a:effectLst>
        </p:spPr>
      </p:pic>
    </p:spTree>
    <p:extLst>
      <p:ext uri="{BB962C8B-B14F-4D97-AF65-F5344CB8AC3E}">
        <p14:creationId xmlns:p14="http://schemas.microsoft.com/office/powerpoint/2010/main" val="123325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17D8-2216-48FB-A1B0-212E772B1A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E2C1C8-33D6-4A46-B242-81C6490FA14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3DEB6F8-D45B-49EE-AD8A-18441A9C2FD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84BB62A-358D-44EA-9384-5D7B080C3F4C}"/>
              </a:ext>
            </a:extLst>
          </p:cNvPr>
          <p:cNvSpPr>
            <a:spLocks noGrp="1"/>
          </p:cNvSpPr>
          <p:nvPr>
            <p:ph type="dt" sz="half" idx="10"/>
          </p:nvPr>
        </p:nvSpPr>
        <p:spPr/>
        <p:txBody>
          <a:bodyPr/>
          <a:lstStyle/>
          <a:p>
            <a:fld id="{7D1EE8D5-F280-4583-947B-BBF43E849FDC}" type="datetime1">
              <a:rPr lang="en-GB" smtClean="0"/>
              <a:t>07/08/2025</a:t>
            </a:fld>
            <a:endParaRPr lang="en-GB"/>
          </a:p>
        </p:txBody>
      </p:sp>
      <p:sp>
        <p:nvSpPr>
          <p:cNvPr id="6" name="Footer Placeholder 5">
            <a:extLst>
              <a:ext uri="{FF2B5EF4-FFF2-40B4-BE49-F238E27FC236}">
                <a16:creationId xmlns:a16="http://schemas.microsoft.com/office/drawing/2014/main" id="{BD6F85CA-5252-4B81-B9A7-E8645349F3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7A7E7A5-3570-4A38-AA5A-51E1D48A2FB7}"/>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2152128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5DD4B5A-9A26-47BA-BF49-D8CF7BB22D1C}"/>
              </a:ext>
            </a:extLst>
          </p:cNvPr>
          <p:cNvSpPr txBox="1"/>
          <p:nvPr userDrawn="1"/>
        </p:nvSpPr>
        <p:spPr>
          <a:xfrm>
            <a:off x="2294965" y="6329660"/>
            <a:ext cx="7602070" cy="369332"/>
          </a:xfrm>
          <a:prstGeom prst="rect">
            <a:avLst/>
          </a:prstGeom>
          <a:noFill/>
        </p:spPr>
        <p:txBody>
          <a:bodyPr wrap="square" rtlCol="0">
            <a:spAutoFit/>
          </a:bodyPr>
          <a:lstStyle/>
          <a:p>
            <a:r>
              <a:rPr lang="en-US" i="1" dirty="0"/>
              <a:t>Disclaimer: This training material belongs to </a:t>
            </a:r>
            <a:r>
              <a:rPr lang="en-US" i="1" dirty="0" err="1"/>
              <a:t>TechCrush</a:t>
            </a:r>
            <a:r>
              <a:rPr lang="en-US" i="1" dirty="0"/>
              <a:t> and shouldn’t be shared</a:t>
            </a:r>
          </a:p>
        </p:txBody>
      </p:sp>
      <p:sp>
        <p:nvSpPr>
          <p:cNvPr id="11" name="Date Placeholder 3">
            <a:extLst>
              <a:ext uri="{FF2B5EF4-FFF2-40B4-BE49-F238E27FC236}">
                <a16:creationId xmlns:a16="http://schemas.microsoft.com/office/drawing/2014/main" id="{59081716-F4DC-4F58-98E3-85632857F84A}"/>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3A4DC2-0AF5-4CC1-B1E6-2FB94C1112D6}" type="datetimeFigureOut">
              <a:rPr lang="en-GB" smtClean="0"/>
              <a:pPr/>
              <a:t>07/08/2025</a:t>
            </a:fld>
            <a:endParaRPr lang="en-GB"/>
          </a:p>
        </p:txBody>
      </p:sp>
      <p:sp>
        <p:nvSpPr>
          <p:cNvPr id="12" name="Slide Number Placeholder 5">
            <a:extLst>
              <a:ext uri="{FF2B5EF4-FFF2-40B4-BE49-F238E27FC236}">
                <a16:creationId xmlns:a16="http://schemas.microsoft.com/office/drawing/2014/main" id="{D05FCC6E-D022-42E0-AE58-A48B63D569D7}"/>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1C74E5-D250-4BDE-BB1A-AE4DD479CC99}" type="slidenum">
              <a:rPr lang="en-GB" smtClean="0"/>
              <a:pPr/>
              <a:t>‹#›</a:t>
            </a:fld>
            <a:endParaRPr lang="en-GB"/>
          </a:p>
        </p:txBody>
      </p:sp>
      <p:sp>
        <p:nvSpPr>
          <p:cNvPr id="13" name="Rectangle 12">
            <a:extLst>
              <a:ext uri="{FF2B5EF4-FFF2-40B4-BE49-F238E27FC236}">
                <a16:creationId xmlns:a16="http://schemas.microsoft.com/office/drawing/2014/main" id="{02AEE5DD-755E-4B1E-92CE-C15DCA38FB0D}"/>
              </a:ext>
            </a:extLst>
          </p:cNvPr>
          <p:cNvSpPr/>
          <p:nvPr userDrawn="1"/>
        </p:nvSpPr>
        <p:spPr>
          <a:xfrm>
            <a:off x="0" y="4477"/>
            <a:ext cx="10067365" cy="488589"/>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8E303E98-B5FD-4ABD-B652-C58045C85C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15" name="Rectangle 14">
            <a:extLst>
              <a:ext uri="{FF2B5EF4-FFF2-40B4-BE49-F238E27FC236}">
                <a16:creationId xmlns:a16="http://schemas.microsoft.com/office/drawing/2014/main" id="{43801F38-2CFA-40C5-9864-6DFA9D9DFBBA}"/>
              </a:ext>
            </a:extLst>
          </p:cNvPr>
          <p:cNvSpPr/>
          <p:nvPr userDrawn="1"/>
        </p:nvSpPr>
        <p:spPr>
          <a:xfrm>
            <a:off x="-3" y="528340"/>
            <a:ext cx="10067365" cy="16194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EA0CBC3-9A47-4157-A9D8-7CE570D0238E}"/>
              </a:ext>
            </a:extLst>
          </p:cNvPr>
          <p:cNvPicPr>
            <a:picLocks noChangeAspect="1"/>
          </p:cNvPicPr>
          <p:nvPr userDrawn="1"/>
        </p:nvPicPr>
        <p:blipFill>
          <a:blip r:embed="rId2">
            <a:alphaModFix amt="26000"/>
            <a:extLst>
              <a:ext uri="{28A0092B-C50C-407E-A947-70E740481C1C}">
                <a14:useLocalDpi xmlns:a14="http://schemas.microsoft.com/office/drawing/2010/main" val="0"/>
              </a:ext>
            </a:extLst>
          </a:blip>
          <a:stretch>
            <a:fillRect/>
          </a:stretch>
        </p:blipFill>
        <p:spPr>
          <a:xfrm>
            <a:off x="865293" y="1892758"/>
            <a:ext cx="10541991" cy="2804748"/>
          </a:xfrm>
          <a:prstGeom prst="rect">
            <a:avLst/>
          </a:prstGeom>
          <a:effectLst>
            <a:outerShdw dist="50800" sx="1000" sy="1000" algn="ctr" rotWithShape="0">
              <a:srgbClr val="000000"/>
            </a:outerShdw>
          </a:effectLst>
        </p:spPr>
      </p:pic>
      <p:sp>
        <p:nvSpPr>
          <p:cNvPr id="2" name="Title 1">
            <a:extLst>
              <a:ext uri="{FF2B5EF4-FFF2-40B4-BE49-F238E27FC236}">
                <a16:creationId xmlns:a16="http://schemas.microsoft.com/office/drawing/2014/main" id="{30CA5ABE-AA85-42A7-A3C9-8E1CB971CD0B}"/>
              </a:ext>
            </a:extLst>
          </p:cNvPr>
          <p:cNvSpPr>
            <a:spLocks noGrp="1"/>
          </p:cNvSpPr>
          <p:nvPr>
            <p:ph type="title"/>
          </p:nvPr>
        </p:nvSpPr>
        <p:spPr>
          <a:xfrm>
            <a:off x="838200" y="-377180"/>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51FD632-B5F0-4961-BFC3-357B1473FF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BB8AF49-8E78-4006-BC63-8B70E08A606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96AEB9C-899E-4D40-AFA2-0639C2DA1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2340A9-C082-4AA6-80B9-09DD7DD01EB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0528498-FCEB-471B-B06B-F1359810F0ED}"/>
              </a:ext>
            </a:extLst>
          </p:cNvPr>
          <p:cNvSpPr>
            <a:spLocks noGrp="1"/>
          </p:cNvSpPr>
          <p:nvPr>
            <p:ph type="dt" sz="half" idx="10"/>
          </p:nvPr>
        </p:nvSpPr>
        <p:spPr/>
        <p:txBody>
          <a:bodyPr/>
          <a:lstStyle/>
          <a:p>
            <a:fld id="{4EF59685-2BD7-4255-883C-69FBB930E6BA}" type="datetime1">
              <a:rPr lang="en-GB" smtClean="0"/>
              <a:t>07/08/2025</a:t>
            </a:fld>
            <a:endParaRPr lang="en-GB"/>
          </a:p>
        </p:txBody>
      </p:sp>
      <p:sp>
        <p:nvSpPr>
          <p:cNvPr id="8" name="Footer Placeholder 7">
            <a:extLst>
              <a:ext uri="{FF2B5EF4-FFF2-40B4-BE49-F238E27FC236}">
                <a16:creationId xmlns:a16="http://schemas.microsoft.com/office/drawing/2014/main" id="{E1D5E8F6-29A6-4C1F-93AF-0F8669D676A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6DB3722-6FDA-4584-BD7F-72F95AB3262F}"/>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1740763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852AC18-D134-4373-B719-A38A463197E6}"/>
              </a:ext>
            </a:extLst>
          </p:cNvPr>
          <p:cNvSpPr txBox="1"/>
          <p:nvPr userDrawn="1"/>
        </p:nvSpPr>
        <p:spPr>
          <a:xfrm>
            <a:off x="2294965" y="6329660"/>
            <a:ext cx="7602070" cy="369332"/>
          </a:xfrm>
          <a:prstGeom prst="rect">
            <a:avLst/>
          </a:prstGeom>
          <a:noFill/>
        </p:spPr>
        <p:txBody>
          <a:bodyPr wrap="square" rtlCol="0">
            <a:spAutoFit/>
          </a:bodyPr>
          <a:lstStyle/>
          <a:p>
            <a:r>
              <a:rPr lang="en-US" i="1" dirty="0"/>
              <a:t>Disclaimer: This training material belongs to </a:t>
            </a:r>
            <a:r>
              <a:rPr lang="en-US" i="1" dirty="0" err="1"/>
              <a:t>TechCrush</a:t>
            </a:r>
            <a:r>
              <a:rPr lang="en-US" i="1" dirty="0"/>
              <a:t> and shouldn’t be shared</a:t>
            </a:r>
          </a:p>
        </p:txBody>
      </p:sp>
      <p:sp>
        <p:nvSpPr>
          <p:cNvPr id="7" name="Date Placeholder 3">
            <a:extLst>
              <a:ext uri="{FF2B5EF4-FFF2-40B4-BE49-F238E27FC236}">
                <a16:creationId xmlns:a16="http://schemas.microsoft.com/office/drawing/2014/main" id="{715263DB-C6CD-4E25-AD8F-E8D74FC086FD}"/>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3A4DC2-0AF5-4CC1-B1E6-2FB94C1112D6}" type="datetimeFigureOut">
              <a:rPr lang="en-GB" smtClean="0"/>
              <a:pPr/>
              <a:t>07/08/2025</a:t>
            </a:fld>
            <a:endParaRPr lang="en-GB"/>
          </a:p>
        </p:txBody>
      </p:sp>
      <p:sp>
        <p:nvSpPr>
          <p:cNvPr id="8" name="Slide Number Placeholder 5">
            <a:extLst>
              <a:ext uri="{FF2B5EF4-FFF2-40B4-BE49-F238E27FC236}">
                <a16:creationId xmlns:a16="http://schemas.microsoft.com/office/drawing/2014/main" id="{5FA316E4-C03C-4ECE-A71F-481144ABE808}"/>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1C74E5-D250-4BDE-BB1A-AE4DD479CC99}" type="slidenum">
              <a:rPr lang="en-GB" smtClean="0"/>
              <a:pPr/>
              <a:t>‹#›</a:t>
            </a:fld>
            <a:endParaRPr lang="en-GB"/>
          </a:p>
        </p:txBody>
      </p:sp>
      <p:sp>
        <p:nvSpPr>
          <p:cNvPr id="9" name="Rectangle 8">
            <a:extLst>
              <a:ext uri="{FF2B5EF4-FFF2-40B4-BE49-F238E27FC236}">
                <a16:creationId xmlns:a16="http://schemas.microsoft.com/office/drawing/2014/main" id="{14685847-5800-4AD0-8F64-C9B6BFBEF839}"/>
              </a:ext>
            </a:extLst>
          </p:cNvPr>
          <p:cNvSpPr/>
          <p:nvPr userDrawn="1"/>
        </p:nvSpPr>
        <p:spPr>
          <a:xfrm>
            <a:off x="0" y="4477"/>
            <a:ext cx="10067365" cy="488589"/>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4F332A4-A91F-46B3-8B8E-B7966EDDE2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11" name="Rectangle 10">
            <a:extLst>
              <a:ext uri="{FF2B5EF4-FFF2-40B4-BE49-F238E27FC236}">
                <a16:creationId xmlns:a16="http://schemas.microsoft.com/office/drawing/2014/main" id="{7A852CC6-126C-4226-B5C9-D97A8B2341D5}"/>
              </a:ext>
            </a:extLst>
          </p:cNvPr>
          <p:cNvSpPr/>
          <p:nvPr userDrawn="1"/>
        </p:nvSpPr>
        <p:spPr>
          <a:xfrm>
            <a:off x="-3" y="528340"/>
            <a:ext cx="10067365" cy="16194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15D942-580E-4618-AAD9-646BF53D1A6E}"/>
              </a:ext>
            </a:extLst>
          </p:cNvPr>
          <p:cNvPicPr>
            <a:picLocks noChangeAspect="1"/>
          </p:cNvPicPr>
          <p:nvPr userDrawn="1"/>
        </p:nvPicPr>
        <p:blipFill>
          <a:blip r:embed="rId2">
            <a:alphaModFix amt="26000"/>
            <a:extLst>
              <a:ext uri="{28A0092B-C50C-407E-A947-70E740481C1C}">
                <a14:useLocalDpi xmlns:a14="http://schemas.microsoft.com/office/drawing/2010/main" val="0"/>
              </a:ext>
            </a:extLst>
          </a:blip>
          <a:stretch>
            <a:fillRect/>
          </a:stretch>
        </p:blipFill>
        <p:spPr>
          <a:xfrm>
            <a:off x="865293" y="1892758"/>
            <a:ext cx="10541991" cy="2804748"/>
          </a:xfrm>
          <a:prstGeom prst="rect">
            <a:avLst/>
          </a:prstGeom>
          <a:effectLst>
            <a:outerShdw dist="50800" sx="1000" sy="1000" algn="ctr" rotWithShape="0">
              <a:srgbClr val="000000"/>
            </a:outerShdw>
          </a:effectLst>
        </p:spPr>
      </p:pic>
      <p:sp>
        <p:nvSpPr>
          <p:cNvPr id="2" name="Title 1">
            <a:extLst>
              <a:ext uri="{FF2B5EF4-FFF2-40B4-BE49-F238E27FC236}">
                <a16:creationId xmlns:a16="http://schemas.microsoft.com/office/drawing/2014/main" id="{B5147175-365C-4106-AA04-5B71EE05C65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D87A839-06F2-4A47-93CD-9CEFBBDDB82B}"/>
              </a:ext>
            </a:extLst>
          </p:cNvPr>
          <p:cNvSpPr>
            <a:spLocks noGrp="1"/>
          </p:cNvSpPr>
          <p:nvPr>
            <p:ph type="dt" sz="half" idx="10"/>
          </p:nvPr>
        </p:nvSpPr>
        <p:spPr/>
        <p:txBody>
          <a:bodyPr/>
          <a:lstStyle/>
          <a:p>
            <a:fld id="{9D1E346C-95C0-49E5-8EE0-AB17A3169489}" type="datetime1">
              <a:rPr lang="en-GB" smtClean="0"/>
              <a:t>07/08/2025</a:t>
            </a:fld>
            <a:endParaRPr lang="en-GB"/>
          </a:p>
        </p:txBody>
      </p:sp>
      <p:sp>
        <p:nvSpPr>
          <p:cNvPr id="4" name="Footer Placeholder 3">
            <a:extLst>
              <a:ext uri="{FF2B5EF4-FFF2-40B4-BE49-F238E27FC236}">
                <a16:creationId xmlns:a16="http://schemas.microsoft.com/office/drawing/2014/main" id="{5F2A4843-C22D-4F87-8EED-5E05FC8A439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BF9BF4E-8D25-454B-9B4B-D88ED2239E29}"/>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1016383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59E97D-2AC6-4223-953A-3B8F6BCB0B48}"/>
              </a:ext>
            </a:extLst>
          </p:cNvPr>
          <p:cNvSpPr>
            <a:spLocks noGrp="1"/>
          </p:cNvSpPr>
          <p:nvPr>
            <p:ph type="dt" sz="half" idx="10"/>
          </p:nvPr>
        </p:nvSpPr>
        <p:spPr/>
        <p:txBody>
          <a:bodyPr/>
          <a:lstStyle/>
          <a:p>
            <a:fld id="{98B1F487-178B-4504-ABF8-EF5EE5B43803}" type="datetime1">
              <a:rPr lang="en-GB" smtClean="0"/>
              <a:t>07/08/2025</a:t>
            </a:fld>
            <a:endParaRPr lang="en-GB"/>
          </a:p>
        </p:txBody>
      </p:sp>
      <p:sp>
        <p:nvSpPr>
          <p:cNvPr id="3" name="Footer Placeholder 2">
            <a:extLst>
              <a:ext uri="{FF2B5EF4-FFF2-40B4-BE49-F238E27FC236}">
                <a16:creationId xmlns:a16="http://schemas.microsoft.com/office/drawing/2014/main" id="{B492991A-AAA7-4215-9C2B-31A16D18A3C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FD9872A-7595-45F9-A879-00F3603644ED}"/>
              </a:ext>
            </a:extLst>
          </p:cNvPr>
          <p:cNvSpPr>
            <a:spLocks noGrp="1"/>
          </p:cNvSpPr>
          <p:nvPr>
            <p:ph type="sldNum" sz="quarter" idx="12"/>
          </p:nvPr>
        </p:nvSpPr>
        <p:spPr/>
        <p:txBody>
          <a:bodyPr/>
          <a:lstStyle/>
          <a:p>
            <a:fld id="{D31C74E5-D250-4BDE-BB1A-AE4DD479CC99}" type="slidenum">
              <a:rPr lang="en-GB" smtClean="0"/>
              <a:t>‹#›</a:t>
            </a:fld>
            <a:endParaRPr lang="en-GB"/>
          </a:p>
        </p:txBody>
      </p:sp>
      <p:sp>
        <p:nvSpPr>
          <p:cNvPr id="5" name="TextBox 4">
            <a:extLst>
              <a:ext uri="{FF2B5EF4-FFF2-40B4-BE49-F238E27FC236}">
                <a16:creationId xmlns:a16="http://schemas.microsoft.com/office/drawing/2014/main" id="{AE17E97D-C51D-4A3D-B794-53C3577942A4}"/>
              </a:ext>
            </a:extLst>
          </p:cNvPr>
          <p:cNvSpPr txBox="1"/>
          <p:nvPr userDrawn="1"/>
        </p:nvSpPr>
        <p:spPr>
          <a:xfrm>
            <a:off x="2294965" y="6356350"/>
            <a:ext cx="7602070" cy="369332"/>
          </a:xfrm>
          <a:prstGeom prst="rect">
            <a:avLst/>
          </a:prstGeom>
          <a:noFill/>
        </p:spPr>
        <p:txBody>
          <a:bodyPr wrap="square" rtlCol="0">
            <a:spAutoFit/>
          </a:bodyPr>
          <a:lstStyle/>
          <a:p>
            <a:r>
              <a:rPr lang="en-US" i="1" dirty="0"/>
              <a:t>Disclaimer: This training material belongs to </a:t>
            </a:r>
            <a:r>
              <a:rPr lang="en-US" i="1" dirty="0" err="1"/>
              <a:t>TechCrush</a:t>
            </a:r>
            <a:r>
              <a:rPr lang="en-US" i="1" dirty="0"/>
              <a:t> and shouldn’t be shared</a:t>
            </a:r>
          </a:p>
        </p:txBody>
      </p:sp>
      <p:sp>
        <p:nvSpPr>
          <p:cNvPr id="8" name="Rectangle 7">
            <a:extLst>
              <a:ext uri="{FF2B5EF4-FFF2-40B4-BE49-F238E27FC236}">
                <a16:creationId xmlns:a16="http://schemas.microsoft.com/office/drawing/2014/main" id="{D2D81078-F460-48A2-9F44-3962C459F13D}"/>
              </a:ext>
            </a:extLst>
          </p:cNvPr>
          <p:cNvSpPr/>
          <p:nvPr userDrawn="1"/>
        </p:nvSpPr>
        <p:spPr>
          <a:xfrm>
            <a:off x="0" y="152400"/>
            <a:ext cx="3030071" cy="197231"/>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ADBF5A7-65B6-4C48-B86F-8EDC780D64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10" name="Rectangle 9">
            <a:extLst>
              <a:ext uri="{FF2B5EF4-FFF2-40B4-BE49-F238E27FC236}">
                <a16:creationId xmlns:a16="http://schemas.microsoft.com/office/drawing/2014/main" id="{C0FE0184-08EE-415A-A5E6-1B283FAFDAF2}"/>
              </a:ext>
            </a:extLst>
          </p:cNvPr>
          <p:cNvSpPr/>
          <p:nvPr userDrawn="1"/>
        </p:nvSpPr>
        <p:spPr>
          <a:xfrm>
            <a:off x="3397623" y="152400"/>
            <a:ext cx="3478306" cy="1972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DB79829-62D8-4440-AE50-2AAAA7416BCD}"/>
              </a:ext>
            </a:extLst>
          </p:cNvPr>
          <p:cNvSpPr/>
          <p:nvPr userDrawn="1"/>
        </p:nvSpPr>
        <p:spPr>
          <a:xfrm>
            <a:off x="7243482" y="152400"/>
            <a:ext cx="2962961" cy="197231"/>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2228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44951-F5C1-4118-93A1-340DAC029C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07271F7-78E4-4466-8399-F5BB7A6A4E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398F1A0-6A87-461D-9717-D0CFE8A35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0B4CC0B-0FEA-4946-BC30-39452358931D}"/>
              </a:ext>
            </a:extLst>
          </p:cNvPr>
          <p:cNvSpPr>
            <a:spLocks noGrp="1"/>
          </p:cNvSpPr>
          <p:nvPr>
            <p:ph type="dt" sz="half" idx="10"/>
          </p:nvPr>
        </p:nvSpPr>
        <p:spPr/>
        <p:txBody>
          <a:bodyPr/>
          <a:lstStyle/>
          <a:p>
            <a:fld id="{2C24543C-6D09-46B0-BA2A-E146FE8BA963}" type="datetime1">
              <a:rPr lang="en-GB" smtClean="0"/>
              <a:t>07/08/2025</a:t>
            </a:fld>
            <a:endParaRPr lang="en-GB"/>
          </a:p>
        </p:txBody>
      </p:sp>
      <p:sp>
        <p:nvSpPr>
          <p:cNvPr id="6" name="Footer Placeholder 5">
            <a:extLst>
              <a:ext uri="{FF2B5EF4-FFF2-40B4-BE49-F238E27FC236}">
                <a16:creationId xmlns:a16="http://schemas.microsoft.com/office/drawing/2014/main" id="{D7C76A88-5B2B-45C7-85A4-62C62E5D0C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9B1BD9-3B06-4B55-AEB0-99B26829D323}"/>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96640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06A9A-3C9A-4A81-934A-0439B2E5F9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B91E801-C568-4943-AEC8-EF9D51883D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B05C386-E14B-40B1-9559-842A535AAE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68808E-4F49-4CA5-8B6A-F88564F80ABA}"/>
              </a:ext>
            </a:extLst>
          </p:cNvPr>
          <p:cNvSpPr>
            <a:spLocks noGrp="1"/>
          </p:cNvSpPr>
          <p:nvPr>
            <p:ph type="dt" sz="half" idx="10"/>
          </p:nvPr>
        </p:nvSpPr>
        <p:spPr/>
        <p:txBody>
          <a:bodyPr/>
          <a:lstStyle/>
          <a:p>
            <a:fld id="{6865A9FA-7A79-440F-A326-D55285E3592B}" type="datetime1">
              <a:rPr lang="en-GB" smtClean="0"/>
              <a:t>07/08/2025</a:t>
            </a:fld>
            <a:endParaRPr lang="en-GB"/>
          </a:p>
        </p:txBody>
      </p:sp>
      <p:sp>
        <p:nvSpPr>
          <p:cNvPr id="6" name="Footer Placeholder 5">
            <a:extLst>
              <a:ext uri="{FF2B5EF4-FFF2-40B4-BE49-F238E27FC236}">
                <a16:creationId xmlns:a16="http://schemas.microsoft.com/office/drawing/2014/main" id="{B3529EBA-839F-487E-9902-AB4AFC8507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BCB6234-AA57-4DAB-B401-B781331507D5}"/>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3052696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C20A-A50E-438C-AC37-23C90AB21FD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9A60265-1871-4E41-BE29-02B6744CF67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2983E6-F307-4A91-BFFB-D1FB290DF20A}"/>
              </a:ext>
            </a:extLst>
          </p:cNvPr>
          <p:cNvSpPr>
            <a:spLocks noGrp="1"/>
          </p:cNvSpPr>
          <p:nvPr>
            <p:ph type="dt" sz="half" idx="10"/>
          </p:nvPr>
        </p:nvSpPr>
        <p:spPr/>
        <p:txBody>
          <a:bodyPr/>
          <a:lstStyle/>
          <a:p>
            <a:fld id="{33908E72-F2C4-42E2-B302-C005CA1F00F2}" type="datetime1">
              <a:rPr lang="en-GB" smtClean="0"/>
              <a:t>07/08/2025</a:t>
            </a:fld>
            <a:endParaRPr lang="en-GB"/>
          </a:p>
        </p:txBody>
      </p:sp>
      <p:sp>
        <p:nvSpPr>
          <p:cNvPr id="5" name="Footer Placeholder 4">
            <a:extLst>
              <a:ext uri="{FF2B5EF4-FFF2-40B4-BE49-F238E27FC236}">
                <a16:creationId xmlns:a16="http://schemas.microsoft.com/office/drawing/2014/main" id="{F9680A9B-00D9-43D6-9C7C-B888A1B61D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2E0D68-1E2D-43D4-92E8-3D4FBA69310F}"/>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40965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580BF1-09CF-4D01-9846-0CCC782B98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AAD652-FF79-4D10-A4ED-82D225F8B7C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BCA09D4-02FB-4B05-98D0-A90D9BBE63E3}"/>
              </a:ext>
            </a:extLst>
          </p:cNvPr>
          <p:cNvSpPr>
            <a:spLocks noGrp="1"/>
          </p:cNvSpPr>
          <p:nvPr>
            <p:ph type="dt" sz="half" idx="10"/>
          </p:nvPr>
        </p:nvSpPr>
        <p:spPr/>
        <p:txBody>
          <a:bodyPr/>
          <a:lstStyle/>
          <a:p>
            <a:fld id="{463DEA28-5F59-42BB-8761-215C1B61F056}" type="datetime1">
              <a:rPr lang="en-GB" smtClean="0"/>
              <a:t>07/08/2025</a:t>
            </a:fld>
            <a:endParaRPr lang="en-GB"/>
          </a:p>
        </p:txBody>
      </p:sp>
      <p:sp>
        <p:nvSpPr>
          <p:cNvPr id="5" name="Footer Placeholder 4">
            <a:extLst>
              <a:ext uri="{FF2B5EF4-FFF2-40B4-BE49-F238E27FC236}">
                <a16:creationId xmlns:a16="http://schemas.microsoft.com/office/drawing/2014/main" id="{EDCADD32-A9E3-4081-A9F0-DE3B6C3D36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CF17CF-B95A-40E4-A64A-1893F41F06A1}"/>
              </a:ext>
            </a:extLst>
          </p:cNvPr>
          <p:cNvSpPr>
            <a:spLocks noGrp="1"/>
          </p:cNvSpPr>
          <p:nvPr>
            <p:ph type="sldNum" sz="quarter" idx="12"/>
          </p:nvPr>
        </p:nvSpPr>
        <p:spPr/>
        <p:txBody>
          <a:bodyPr/>
          <a:lstStyle/>
          <a:p>
            <a:fld id="{D31C74E5-D250-4BDE-BB1A-AE4DD479CC99}" type="slidenum">
              <a:rPr lang="en-GB" smtClean="0"/>
              <a:t>‹#›</a:t>
            </a:fld>
            <a:endParaRPr lang="en-GB"/>
          </a:p>
        </p:txBody>
      </p:sp>
    </p:spTree>
    <p:extLst>
      <p:ext uri="{BB962C8B-B14F-4D97-AF65-F5344CB8AC3E}">
        <p14:creationId xmlns:p14="http://schemas.microsoft.com/office/powerpoint/2010/main" val="3286954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EEB0D1-2E5B-474D-AF14-ED432FE303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A2C459D-643B-4A78-B0BE-695D405243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FFBA64-1D5D-45F1-81E9-5914F10F4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C1145D-DD49-43D0-804F-5335674B1C96}" type="datetime1">
              <a:rPr lang="en-GB" smtClean="0"/>
              <a:t>07/08/2025</a:t>
            </a:fld>
            <a:endParaRPr lang="en-GB"/>
          </a:p>
        </p:txBody>
      </p:sp>
      <p:sp>
        <p:nvSpPr>
          <p:cNvPr id="5" name="Footer Placeholder 4">
            <a:extLst>
              <a:ext uri="{FF2B5EF4-FFF2-40B4-BE49-F238E27FC236}">
                <a16:creationId xmlns:a16="http://schemas.microsoft.com/office/drawing/2014/main" id="{0459ED24-2969-48A2-8E30-D4184CA750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7A25EA1-EE70-45B2-AD3A-CC95835DEC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1C74E5-D250-4BDE-BB1A-AE4DD479CC99}" type="slidenum">
              <a:rPr lang="en-GB" smtClean="0"/>
              <a:t>‹#›</a:t>
            </a:fld>
            <a:endParaRPr lang="en-GB"/>
          </a:p>
        </p:txBody>
      </p:sp>
    </p:spTree>
    <p:extLst>
      <p:ext uri="{BB962C8B-B14F-4D97-AF65-F5344CB8AC3E}">
        <p14:creationId xmlns:p14="http://schemas.microsoft.com/office/powerpoint/2010/main" val="159150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AB7E3-620B-48AA-A35A-848F8872DB4D}"/>
              </a:ext>
            </a:extLst>
          </p:cNvPr>
          <p:cNvSpPr>
            <a:spLocks noGrp="1"/>
          </p:cNvSpPr>
          <p:nvPr>
            <p:ph type="ctrTitle" idx="4294967295"/>
          </p:nvPr>
        </p:nvSpPr>
        <p:spPr>
          <a:xfrm>
            <a:off x="1524000" y="2064755"/>
            <a:ext cx="9144000" cy="2387600"/>
          </a:xfrm>
        </p:spPr>
        <p:txBody>
          <a:bodyPr>
            <a:normAutofit/>
          </a:bodyPr>
          <a:lstStyle/>
          <a:p>
            <a:r>
              <a:rPr lang="en-GB" sz="5400" b="1" dirty="0">
                <a:latin typeface="Franklin Gothic Book" panose="020B0503020102020204" pitchFamily="34" charset="0"/>
              </a:rPr>
              <a:t>How to Think like a </a:t>
            </a:r>
            <a:r>
              <a:rPr lang="en-US" sz="5400" b="1" dirty="0">
                <a:solidFill>
                  <a:srgbClr val="FE4A55"/>
                </a:solidFill>
                <a:latin typeface="Franklin Gothic Book" panose="020B0503020102020204" pitchFamily="34" charset="0"/>
              </a:rPr>
              <a:t>Backend Developer</a:t>
            </a:r>
            <a:endParaRPr lang="en-GB" sz="5400" b="1" dirty="0">
              <a:solidFill>
                <a:srgbClr val="FE4A55"/>
              </a:solidFill>
              <a:latin typeface="Franklin Gothic Book" panose="020B0503020102020204" pitchFamily="34" charset="0"/>
            </a:endParaRPr>
          </a:p>
        </p:txBody>
      </p:sp>
    </p:spTree>
    <p:extLst>
      <p:ext uri="{BB962C8B-B14F-4D97-AF65-F5344CB8AC3E}">
        <p14:creationId xmlns:p14="http://schemas.microsoft.com/office/powerpoint/2010/main" val="2742824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7" y="-2715"/>
            <a:ext cx="7704000"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200" b="1" dirty="0">
                <a:solidFill>
                  <a:schemeClr val="bg1"/>
                </a:solidFill>
                <a:latin typeface="Franklin Gothic Book" panose="020B0503020102020204" pitchFamily="34" charset="0"/>
                <a:ea typeface="IBM Plex Mono"/>
                <a:cs typeface="IBM Plex Mono"/>
                <a:sym typeface="IBM Plex Mono"/>
              </a:rPr>
              <a:t>Table of contents</a:t>
            </a:r>
          </a:p>
        </p:txBody>
      </p:sp>
      <p:sp>
        <p:nvSpPr>
          <p:cNvPr id="3" name="Google Shape;1468;p37">
            <a:extLst>
              <a:ext uri="{FF2B5EF4-FFF2-40B4-BE49-F238E27FC236}">
                <a16:creationId xmlns:a16="http://schemas.microsoft.com/office/drawing/2014/main" id="{CC570BF6-5E23-4779-B670-AEB1955DBEE0}"/>
              </a:ext>
            </a:extLst>
          </p:cNvPr>
          <p:cNvSpPr txBox="1">
            <a:spLocks/>
          </p:cNvSpPr>
          <p:nvPr/>
        </p:nvSpPr>
        <p:spPr>
          <a:xfrm>
            <a:off x="1074563" y="2179696"/>
            <a:ext cx="3233700" cy="402300"/>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GB" sz="3600" b="1" dirty="0">
                <a:latin typeface="Franklin Gothic Book" panose="020B0503020102020204" pitchFamily="34" charset="0"/>
              </a:rPr>
              <a:t>Introduction</a:t>
            </a:r>
          </a:p>
        </p:txBody>
      </p:sp>
      <p:grpSp>
        <p:nvGrpSpPr>
          <p:cNvPr id="15" name="Group 14">
            <a:extLst>
              <a:ext uri="{FF2B5EF4-FFF2-40B4-BE49-F238E27FC236}">
                <a16:creationId xmlns:a16="http://schemas.microsoft.com/office/drawing/2014/main" id="{6DB3E687-3488-447B-B5F3-A4E99E7FD229}"/>
              </a:ext>
            </a:extLst>
          </p:cNvPr>
          <p:cNvGrpSpPr/>
          <p:nvPr/>
        </p:nvGrpSpPr>
        <p:grpSpPr>
          <a:xfrm>
            <a:off x="1074562" y="1329790"/>
            <a:ext cx="4243145" cy="1857962"/>
            <a:chOff x="1074563" y="1329790"/>
            <a:chExt cx="3366808" cy="1503129"/>
          </a:xfrm>
        </p:grpSpPr>
        <p:sp>
          <p:nvSpPr>
            <p:cNvPr id="4" name="Google Shape;1469;p37">
              <a:extLst>
                <a:ext uri="{FF2B5EF4-FFF2-40B4-BE49-F238E27FC236}">
                  <a16:creationId xmlns:a16="http://schemas.microsoft.com/office/drawing/2014/main" id="{CC4B6A5F-5CF2-4224-BB09-FE34B9E1EFD7}"/>
                </a:ext>
              </a:extLst>
            </p:cNvPr>
            <p:cNvSpPr txBox="1">
              <a:spLocks/>
            </p:cNvSpPr>
            <p:nvPr/>
          </p:nvSpPr>
          <p:spPr>
            <a:xfrm>
              <a:off x="1074563" y="2228719"/>
              <a:ext cx="3366808" cy="604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dirty="0">
                  <a:latin typeface="Franklin Gothic Book" panose="020B0503020102020204" pitchFamily="34" charset="0"/>
                </a:rPr>
                <a:t>Who is a backend developer?</a:t>
              </a:r>
            </a:p>
          </p:txBody>
        </p:sp>
        <p:sp>
          <p:nvSpPr>
            <p:cNvPr id="8" name="Google Shape;1473;p37">
              <a:extLst>
                <a:ext uri="{FF2B5EF4-FFF2-40B4-BE49-F238E27FC236}">
                  <a16:creationId xmlns:a16="http://schemas.microsoft.com/office/drawing/2014/main" id="{BBB324FF-2F10-4B66-989D-77DEE2EF6D59}"/>
                </a:ext>
              </a:extLst>
            </p:cNvPr>
            <p:cNvSpPr txBox="1">
              <a:spLocks/>
            </p:cNvSpPr>
            <p:nvPr/>
          </p:nvSpPr>
          <p:spPr>
            <a:xfrm>
              <a:off x="1074566" y="1329790"/>
              <a:ext cx="1057500" cy="640200"/>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dirty="0">
                  <a:latin typeface="Franklin Gothic Book" panose="020B0503020102020204" pitchFamily="34" charset="0"/>
                </a:rPr>
                <a:t>01</a:t>
              </a:r>
            </a:p>
          </p:txBody>
        </p:sp>
      </p:grpSp>
      <p:grpSp>
        <p:nvGrpSpPr>
          <p:cNvPr id="17" name="Group 16">
            <a:extLst>
              <a:ext uri="{FF2B5EF4-FFF2-40B4-BE49-F238E27FC236}">
                <a16:creationId xmlns:a16="http://schemas.microsoft.com/office/drawing/2014/main" id="{485F8EBA-0232-4F4E-BA93-B05450BDA165}"/>
              </a:ext>
            </a:extLst>
          </p:cNvPr>
          <p:cNvGrpSpPr/>
          <p:nvPr/>
        </p:nvGrpSpPr>
        <p:grpSpPr>
          <a:xfrm>
            <a:off x="1009249" y="3871398"/>
            <a:ext cx="4467820" cy="1876259"/>
            <a:chOff x="1009249" y="3871398"/>
            <a:chExt cx="3208188" cy="1504129"/>
          </a:xfrm>
        </p:grpSpPr>
        <p:sp>
          <p:nvSpPr>
            <p:cNvPr id="6" name="Google Shape;1471;p37">
              <a:extLst>
                <a:ext uri="{FF2B5EF4-FFF2-40B4-BE49-F238E27FC236}">
                  <a16:creationId xmlns:a16="http://schemas.microsoft.com/office/drawing/2014/main" id="{0996B9E7-5293-41F8-A149-BF3E65997AA0}"/>
                </a:ext>
              </a:extLst>
            </p:cNvPr>
            <p:cNvSpPr txBox="1">
              <a:spLocks/>
            </p:cNvSpPr>
            <p:nvPr/>
          </p:nvSpPr>
          <p:spPr>
            <a:xfrm>
              <a:off x="1009249" y="4771327"/>
              <a:ext cx="3208188" cy="604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GB" sz="2000" dirty="0">
                  <a:latin typeface="Franklin Gothic Book" panose="020B0503020102020204" pitchFamily="34" charset="0"/>
                </a:rPr>
                <a:t>Details of certain terms</a:t>
              </a:r>
            </a:p>
          </p:txBody>
        </p:sp>
        <p:sp>
          <p:nvSpPr>
            <p:cNvPr id="9" name="Google Shape;1474;p37">
              <a:extLst>
                <a:ext uri="{FF2B5EF4-FFF2-40B4-BE49-F238E27FC236}">
                  <a16:creationId xmlns:a16="http://schemas.microsoft.com/office/drawing/2014/main" id="{12A39254-231C-4ACF-8D0B-C1F140A571B4}"/>
                </a:ext>
              </a:extLst>
            </p:cNvPr>
            <p:cNvSpPr txBox="1">
              <a:spLocks/>
            </p:cNvSpPr>
            <p:nvPr/>
          </p:nvSpPr>
          <p:spPr>
            <a:xfrm>
              <a:off x="1009252" y="3871398"/>
              <a:ext cx="1057500" cy="640200"/>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dirty="0">
                  <a:latin typeface="Franklin Gothic Book" panose="020B0503020102020204" pitchFamily="34" charset="0"/>
                </a:rPr>
                <a:t>03</a:t>
              </a:r>
            </a:p>
          </p:txBody>
        </p:sp>
      </p:grpSp>
      <p:grpSp>
        <p:nvGrpSpPr>
          <p:cNvPr id="16" name="Group 15">
            <a:extLst>
              <a:ext uri="{FF2B5EF4-FFF2-40B4-BE49-F238E27FC236}">
                <a16:creationId xmlns:a16="http://schemas.microsoft.com/office/drawing/2014/main" id="{8AE6F374-DC2F-49AC-8CDC-4424D27322EC}"/>
              </a:ext>
            </a:extLst>
          </p:cNvPr>
          <p:cNvGrpSpPr/>
          <p:nvPr/>
        </p:nvGrpSpPr>
        <p:grpSpPr>
          <a:xfrm>
            <a:off x="6176002" y="1339408"/>
            <a:ext cx="4941432" cy="1848344"/>
            <a:chOff x="6176002" y="1339408"/>
            <a:chExt cx="4090949" cy="1848344"/>
          </a:xfrm>
        </p:grpSpPr>
        <p:sp>
          <p:nvSpPr>
            <p:cNvPr id="5" name="Google Shape;1470;p37">
              <a:extLst>
                <a:ext uri="{FF2B5EF4-FFF2-40B4-BE49-F238E27FC236}">
                  <a16:creationId xmlns:a16="http://schemas.microsoft.com/office/drawing/2014/main" id="{AA0BC1CF-1075-41F6-A7E7-A0E1FA61C2A7}"/>
                </a:ext>
              </a:extLst>
            </p:cNvPr>
            <p:cNvSpPr txBox="1">
              <a:spLocks/>
            </p:cNvSpPr>
            <p:nvPr/>
          </p:nvSpPr>
          <p:spPr>
            <a:xfrm>
              <a:off x="6209652" y="2583552"/>
              <a:ext cx="3512846" cy="604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GB" sz="2000" dirty="0">
                  <a:latin typeface="Franklin Gothic Book" panose="020B0503020102020204" pitchFamily="34" charset="0"/>
                </a:rPr>
                <a:t>What should you know?</a:t>
              </a:r>
            </a:p>
          </p:txBody>
        </p:sp>
        <p:sp>
          <p:nvSpPr>
            <p:cNvPr id="10" name="Google Shape;1475;p37">
              <a:extLst>
                <a:ext uri="{FF2B5EF4-FFF2-40B4-BE49-F238E27FC236}">
                  <a16:creationId xmlns:a16="http://schemas.microsoft.com/office/drawing/2014/main" id="{AD6C1C21-0288-4903-8D62-A12CBF6B18FE}"/>
                </a:ext>
              </a:extLst>
            </p:cNvPr>
            <p:cNvSpPr txBox="1">
              <a:spLocks/>
            </p:cNvSpPr>
            <p:nvPr/>
          </p:nvSpPr>
          <p:spPr>
            <a:xfrm>
              <a:off x="6176002" y="1339408"/>
              <a:ext cx="1057500" cy="640200"/>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dirty="0">
                  <a:latin typeface="Franklin Gothic Book" panose="020B0503020102020204" pitchFamily="34" charset="0"/>
                </a:rPr>
                <a:t>02</a:t>
              </a:r>
            </a:p>
          </p:txBody>
        </p:sp>
        <p:sp>
          <p:nvSpPr>
            <p:cNvPr id="12" name="Google Shape;1477;p37">
              <a:extLst>
                <a:ext uri="{FF2B5EF4-FFF2-40B4-BE49-F238E27FC236}">
                  <a16:creationId xmlns:a16="http://schemas.microsoft.com/office/drawing/2014/main" id="{6278FC5B-8043-499C-9731-B21CBE36869A}"/>
                </a:ext>
              </a:extLst>
            </p:cNvPr>
            <p:cNvSpPr txBox="1">
              <a:spLocks/>
            </p:cNvSpPr>
            <p:nvPr/>
          </p:nvSpPr>
          <p:spPr>
            <a:xfrm>
              <a:off x="6209652" y="2307341"/>
              <a:ext cx="4057299" cy="402300"/>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3200" b="1" dirty="0">
                  <a:latin typeface="Franklin Gothic Book" panose="020B0503020102020204" pitchFamily="34" charset="0"/>
                </a:rPr>
                <a:t>Thinking like a Backend Developer</a:t>
              </a:r>
            </a:p>
          </p:txBody>
        </p:sp>
      </p:grpSp>
      <p:sp>
        <p:nvSpPr>
          <p:cNvPr id="13" name="Google Shape;1478;p37">
            <a:extLst>
              <a:ext uri="{FF2B5EF4-FFF2-40B4-BE49-F238E27FC236}">
                <a16:creationId xmlns:a16="http://schemas.microsoft.com/office/drawing/2014/main" id="{01DB0899-FEFD-4E6F-BFDD-EA5AA435445E}"/>
              </a:ext>
            </a:extLst>
          </p:cNvPr>
          <p:cNvSpPr txBox="1">
            <a:spLocks/>
          </p:cNvSpPr>
          <p:nvPr/>
        </p:nvSpPr>
        <p:spPr>
          <a:xfrm>
            <a:off x="1009249" y="4613182"/>
            <a:ext cx="3973298" cy="402300"/>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GB" sz="3200" b="1" dirty="0">
                <a:latin typeface="Franklin Gothic Book" panose="020B0503020102020204" pitchFamily="34" charset="0"/>
              </a:rPr>
              <a:t>Breakdown of Terms</a:t>
            </a:r>
          </a:p>
        </p:txBody>
      </p:sp>
      <p:grpSp>
        <p:nvGrpSpPr>
          <p:cNvPr id="18" name="Group 17">
            <a:extLst>
              <a:ext uri="{FF2B5EF4-FFF2-40B4-BE49-F238E27FC236}">
                <a16:creationId xmlns:a16="http://schemas.microsoft.com/office/drawing/2014/main" id="{9350D0C6-E73A-4D1F-8A52-32FB989DC93C}"/>
              </a:ext>
            </a:extLst>
          </p:cNvPr>
          <p:cNvGrpSpPr/>
          <p:nvPr/>
        </p:nvGrpSpPr>
        <p:grpSpPr>
          <a:xfrm>
            <a:off x="6176002" y="4014463"/>
            <a:ext cx="4900786" cy="1504129"/>
            <a:chOff x="6176000" y="3670248"/>
            <a:chExt cx="3973301" cy="1504129"/>
          </a:xfrm>
        </p:grpSpPr>
        <p:sp>
          <p:nvSpPr>
            <p:cNvPr id="7" name="Google Shape;1472;p37">
              <a:extLst>
                <a:ext uri="{FF2B5EF4-FFF2-40B4-BE49-F238E27FC236}">
                  <a16:creationId xmlns:a16="http://schemas.microsoft.com/office/drawing/2014/main" id="{691EB016-0D76-4321-9249-0AAD6369A658}"/>
                </a:ext>
              </a:extLst>
            </p:cNvPr>
            <p:cNvSpPr txBox="1">
              <a:spLocks/>
            </p:cNvSpPr>
            <p:nvPr/>
          </p:nvSpPr>
          <p:spPr>
            <a:xfrm>
              <a:off x="6176003" y="4570177"/>
              <a:ext cx="3973298" cy="604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dirty="0">
                  <a:latin typeface="Franklin Gothic Book" panose="020B0503020102020204" pitchFamily="34" charset="0"/>
                </a:rPr>
                <a:t>How would a backend developer </a:t>
              </a:r>
              <a:r>
                <a:rPr lang="en-US" sz="1800" dirty="0">
                  <a:latin typeface="Franklin Gothic Book" panose="020B0503020102020204" pitchFamily="34" charset="0"/>
                </a:rPr>
                <a:t>handle</a:t>
              </a:r>
              <a:r>
                <a:rPr lang="en-US" sz="2000" dirty="0">
                  <a:latin typeface="Franklin Gothic Book" panose="020B0503020102020204" pitchFamily="34" charset="0"/>
                </a:rPr>
                <a:t> a project?</a:t>
              </a:r>
            </a:p>
          </p:txBody>
        </p:sp>
        <p:sp>
          <p:nvSpPr>
            <p:cNvPr id="11" name="Google Shape;1476;p37">
              <a:extLst>
                <a:ext uri="{FF2B5EF4-FFF2-40B4-BE49-F238E27FC236}">
                  <a16:creationId xmlns:a16="http://schemas.microsoft.com/office/drawing/2014/main" id="{A3D9D898-ADD4-4F06-A34E-204E8B206471}"/>
                </a:ext>
              </a:extLst>
            </p:cNvPr>
            <p:cNvSpPr txBox="1">
              <a:spLocks/>
            </p:cNvSpPr>
            <p:nvPr/>
          </p:nvSpPr>
          <p:spPr>
            <a:xfrm>
              <a:off x="6176001" y="3670248"/>
              <a:ext cx="1057500" cy="640200"/>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a:latin typeface="Franklin Gothic Book" panose="020B0503020102020204" pitchFamily="34" charset="0"/>
                </a:rPr>
                <a:t>04</a:t>
              </a:r>
            </a:p>
          </p:txBody>
        </p:sp>
        <p:sp>
          <p:nvSpPr>
            <p:cNvPr id="14" name="Google Shape;1479;p37">
              <a:extLst>
                <a:ext uri="{FF2B5EF4-FFF2-40B4-BE49-F238E27FC236}">
                  <a16:creationId xmlns:a16="http://schemas.microsoft.com/office/drawing/2014/main" id="{2393E20C-3089-4AF9-9817-FB411E4DE1D5}"/>
                </a:ext>
              </a:extLst>
            </p:cNvPr>
            <p:cNvSpPr txBox="1">
              <a:spLocks/>
            </p:cNvSpPr>
            <p:nvPr/>
          </p:nvSpPr>
          <p:spPr>
            <a:xfrm>
              <a:off x="6176000" y="4244078"/>
              <a:ext cx="3845077" cy="402300"/>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GB" sz="3200" b="1" dirty="0">
                  <a:latin typeface="Franklin Gothic Book" panose="020B0503020102020204" pitchFamily="34" charset="0"/>
                </a:rPr>
                <a:t>Using a Case Study</a:t>
              </a:r>
            </a:p>
          </p:txBody>
        </p:sp>
      </p:grpSp>
      <p:sp>
        <p:nvSpPr>
          <p:cNvPr id="19" name="Slide Number Placeholder 18">
            <a:extLst>
              <a:ext uri="{FF2B5EF4-FFF2-40B4-BE49-F238E27FC236}">
                <a16:creationId xmlns:a16="http://schemas.microsoft.com/office/drawing/2014/main" id="{DBECB4FA-2F14-4C39-BAD5-28CF526716A1}"/>
              </a:ext>
            </a:extLst>
          </p:cNvPr>
          <p:cNvSpPr>
            <a:spLocks noGrp="1"/>
          </p:cNvSpPr>
          <p:nvPr>
            <p:ph type="sldNum" sz="quarter" idx="12"/>
          </p:nvPr>
        </p:nvSpPr>
        <p:spPr/>
        <p:txBody>
          <a:bodyPr/>
          <a:lstStyle/>
          <a:p>
            <a:fld id="{D31C74E5-D250-4BDE-BB1A-AE4DD479CC99}" type="slidenum">
              <a:rPr lang="en-GB" smtClean="0"/>
              <a:t>2</a:t>
            </a:fld>
            <a:endParaRPr lang="en-GB"/>
          </a:p>
        </p:txBody>
      </p:sp>
    </p:spTree>
    <p:extLst>
      <p:ext uri="{BB962C8B-B14F-4D97-AF65-F5344CB8AC3E}">
        <p14:creationId xmlns:p14="http://schemas.microsoft.com/office/powerpoint/2010/main" val="3964671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484;p38">
            <a:extLst>
              <a:ext uri="{FF2B5EF4-FFF2-40B4-BE49-F238E27FC236}">
                <a16:creationId xmlns:a16="http://schemas.microsoft.com/office/drawing/2014/main" id="{825371F4-9DE3-4FDA-8C45-F2BD615809A9}"/>
              </a:ext>
            </a:extLst>
          </p:cNvPr>
          <p:cNvSpPr txBox="1">
            <a:spLocks/>
          </p:cNvSpPr>
          <p:nvPr/>
        </p:nvSpPr>
        <p:spPr>
          <a:xfrm>
            <a:off x="1419796" y="1941420"/>
            <a:ext cx="2374674" cy="152489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sz="6000" b="1" i="1" dirty="0">
                <a:latin typeface="Franklin Gothic Book" panose="020B0503020102020204" pitchFamily="34" charset="0"/>
              </a:rPr>
              <a:t>01</a:t>
            </a:r>
          </a:p>
        </p:txBody>
      </p:sp>
      <p:sp>
        <p:nvSpPr>
          <p:cNvPr id="20" name="Google Shape;1485;p38">
            <a:extLst>
              <a:ext uri="{FF2B5EF4-FFF2-40B4-BE49-F238E27FC236}">
                <a16:creationId xmlns:a16="http://schemas.microsoft.com/office/drawing/2014/main" id="{4708C9EA-391C-4C9D-AF3A-DBD573E05B8F}"/>
              </a:ext>
            </a:extLst>
          </p:cNvPr>
          <p:cNvSpPr txBox="1">
            <a:spLocks/>
          </p:cNvSpPr>
          <p:nvPr/>
        </p:nvSpPr>
        <p:spPr>
          <a:xfrm>
            <a:off x="1531765" y="4217390"/>
            <a:ext cx="7808180" cy="72979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dirty="0">
                <a:latin typeface="Franklin Gothic Book" panose="020B0503020102020204" pitchFamily="34" charset="0"/>
              </a:rPr>
              <a:t>Who is a Backend Developer?</a:t>
            </a:r>
          </a:p>
        </p:txBody>
      </p:sp>
      <p:sp>
        <p:nvSpPr>
          <p:cNvPr id="27" name="Google Shape;1492;p38">
            <a:extLst>
              <a:ext uri="{FF2B5EF4-FFF2-40B4-BE49-F238E27FC236}">
                <a16:creationId xmlns:a16="http://schemas.microsoft.com/office/drawing/2014/main" id="{0239F0AC-2853-4915-A33B-937AD78A5899}"/>
              </a:ext>
            </a:extLst>
          </p:cNvPr>
          <p:cNvSpPr txBox="1">
            <a:spLocks/>
          </p:cNvSpPr>
          <p:nvPr/>
        </p:nvSpPr>
        <p:spPr>
          <a:xfrm>
            <a:off x="1419796" y="2789895"/>
            <a:ext cx="7808180" cy="1352847"/>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6000" b="1" dirty="0">
                <a:latin typeface="Franklin Gothic Book" panose="020B0503020102020204" pitchFamily="34" charset="0"/>
              </a:rPr>
              <a:t>Introduction</a:t>
            </a:r>
          </a:p>
        </p:txBody>
      </p:sp>
      <p:sp>
        <p:nvSpPr>
          <p:cNvPr id="73" name="Rectangle 72">
            <a:extLst>
              <a:ext uri="{FF2B5EF4-FFF2-40B4-BE49-F238E27FC236}">
                <a16:creationId xmlns:a16="http://schemas.microsoft.com/office/drawing/2014/main" id="{2CE69ED7-1F92-463B-AAC3-81AAF1EACFC3}"/>
              </a:ext>
            </a:extLst>
          </p:cNvPr>
          <p:cNvSpPr/>
          <p:nvPr/>
        </p:nvSpPr>
        <p:spPr>
          <a:xfrm>
            <a:off x="1531765" y="3972830"/>
            <a:ext cx="4610890" cy="98615"/>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Slide Number Placeholder 73">
            <a:extLst>
              <a:ext uri="{FF2B5EF4-FFF2-40B4-BE49-F238E27FC236}">
                <a16:creationId xmlns:a16="http://schemas.microsoft.com/office/drawing/2014/main" id="{B5506505-9BA2-45C4-BEAA-43B2FE6F3460}"/>
              </a:ext>
            </a:extLst>
          </p:cNvPr>
          <p:cNvSpPr>
            <a:spLocks noGrp="1"/>
          </p:cNvSpPr>
          <p:nvPr>
            <p:ph type="sldNum" sz="quarter" idx="12"/>
          </p:nvPr>
        </p:nvSpPr>
        <p:spPr/>
        <p:txBody>
          <a:bodyPr/>
          <a:lstStyle/>
          <a:p>
            <a:fld id="{D31C74E5-D250-4BDE-BB1A-AE4DD479CC99}" type="slidenum">
              <a:rPr lang="en-GB" smtClean="0"/>
              <a:t>3</a:t>
            </a:fld>
            <a:endParaRPr lang="en-GB"/>
          </a:p>
        </p:txBody>
      </p:sp>
    </p:spTree>
    <p:extLst>
      <p:ext uri="{BB962C8B-B14F-4D97-AF65-F5344CB8AC3E}">
        <p14:creationId xmlns:p14="http://schemas.microsoft.com/office/powerpoint/2010/main" val="1977123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7" y="-2715"/>
            <a:ext cx="7704000"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Who is a Backend Developer?</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19" name="Google Shape;1533;p39">
            <a:extLst>
              <a:ext uri="{FF2B5EF4-FFF2-40B4-BE49-F238E27FC236}">
                <a16:creationId xmlns:a16="http://schemas.microsoft.com/office/drawing/2014/main" id="{DC811164-A6AC-411A-85F6-60A616147DF1}"/>
              </a:ext>
            </a:extLst>
          </p:cNvPr>
          <p:cNvSpPr txBox="1">
            <a:spLocks/>
          </p:cNvSpPr>
          <p:nvPr/>
        </p:nvSpPr>
        <p:spPr>
          <a:xfrm>
            <a:off x="719999" y="1273491"/>
            <a:ext cx="9991543" cy="415692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dirty="0"/>
              <a:t>A backend developer is a software engineer who specializes in the </a:t>
            </a:r>
            <a:r>
              <a:rPr lang="en-US" b="1" dirty="0"/>
              <a:t>server-side of applications, focusing on the core computational logic, databases, data and application architecture, APIs (Application Programming Interfaces), and other background processes that power the functionalities</a:t>
            </a:r>
            <a:r>
              <a:rPr lang="en-US" dirty="0"/>
              <a:t> users interact with on the client-side (frontend).</a:t>
            </a:r>
          </a:p>
        </p:txBody>
      </p:sp>
      <p:sp>
        <p:nvSpPr>
          <p:cNvPr id="20" name="Slide Number Placeholder 19">
            <a:extLst>
              <a:ext uri="{FF2B5EF4-FFF2-40B4-BE49-F238E27FC236}">
                <a16:creationId xmlns:a16="http://schemas.microsoft.com/office/drawing/2014/main" id="{9D9937A4-07DD-483C-823C-52102F450599}"/>
              </a:ext>
            </a:extLst>
          </p:cNvPr>
          <p:cNvSpPr>
            <a:spLocks noGrp="1"/>
          </p:cNvSpPr>
          <p:nvPr>
            <p:ph type="sldNum" sz="quarter" idx="12"/>
          </p:nvPr>
        </p:nvSpPr>
        <p:spPr/>
        <p:txBody>
          <a:bodyPr/>
          <a:lstStyle/>
          <a:p>
            <a:fld id="{D31C74E5-D250-4BDE-BB1A-AE4DD479CC99}" type="slidenum">
              <a:rPr lang="en-GB" smtClean="0"/>
              <a:t>4</a:t>
            </a:fld>
            <a:endParaRPr lang="en-GB"/>
          </a:p>
        </p:txBody>
      </p:sp>
    </p:spTree>
    <p:extLst>
      <p:ext uri="{BB962C8B-B14F-4D97-AF65-F5344CB8AC3E}">
        <p14:creationId xmlns:p14="http://schemas.microsoft.com/office/powerpoint/2010/main" val="3781809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7" y="-2715"/>
            <a:ext cx="7704000"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Core Responsibilities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4" name="Google Shape;1668;p42">
            <a:extLst>
              <a:ext uri="{FF2B5EF4-FFF2-40B4-BE49-F238E27FC236}">
                <a16:creationId xmlns:a16="http://schemas.microsoft.com/office/drawing/2014/main" id="{E3233DF7-2DDA-4CBB-9FBC-FD504A2B62A3}"/>
              </a:ext>
            </a:extLst>
          </p:cNvPr>
          <p:cNvSpPr txBox="1">
            <a:spLocks/>
          </p:cNvSpPr>
          <p:nvPr/>
        </p:nvSpPr>
        <p:spPr>
          <a:xfrm>
            <a:off x="5997637" y="1502417"/>
            <a:ext cx="2221060" cy="901275"/>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API Development</a:t>
            </a:r>
          </a:p>
        </p:txBody>
      </p:sp>
      <p:sp>
        <p:nvSpPr>
          <p:cNvPr id="5" name="Google Shape;1669;p42">
            <a:extLst>
              <a:ext uri="{FF2B5EF4-FFF2-40B4-BE49-F238E27FC236}">
                <a16:creationId xmlns:a16="http://schemas.microsoft.com/office/drawing/2014/main" id="{FFA80167-05A7-4536-99DF-51A7D70426E8}"/>
              </a:ext>
            </a:extLst>
          </p:cNvPr>
          <p:cNvSpPr txBox="1">
            <a:spLocks/>
          </p:cNvSpPr>
          <p:nvPr/>
        </p:nvSpPr>
        <p:spPr>
          <a:xfrm>
            <a:off x="1061363" y="2409350"/>
            <a:ext cx="2339361" cy="331964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indent="-177800"/>
            <a:r>
              <a:rPr lang="en-GB" sz="1800" dirty="0"/>
              <a:t>Creating, writing, and maintaining server-side logic</a:t>
            </a:r>
          </a:p>
          <a:p>
            <a:pPr marL="177800" indent="-177800"/>
            <a:r>
              <a:rPr lang="en-GB" sz="1800" dirty="0"/>
              <a:t>Implementing business rules and workflows</a:t>
            </a:r>
          </a:p>
          <a:p>
            <a:pPr marL="177800" indent="-177800"/>
            <a:r>
              <a:rPr lang="en-GB" sz="1800" dirty="0"/>
              <a:t>Developing APIs and web services</a:t>
            </a:r>
          </a:p>
          <a:p>
            <a:pPr marL="177800" indent="-177800"/>
            <a:r>
              <a:rPr lang="en-GB" sz="1800" dirty="0"/>
              <a:t>Managing database operations</a:t>
            </a:r>
          </a:p>
        </p:txBody>
      </p:sp>
      <p:sp>
        <p:nvSpPr>
          <p:cNvPr id="6" name="Google Shape;1670;p42">
            <a:extLst>
              <a:ext uri="{FF2B5EF4-FFF2-40B4-BE49-F238E27FC236}">
                <a16:creationId xmlns:a16="http://schemas.microsoft.com/office/drawing/2014/main" id="{527FACB0-85FB-4387-A7BA-B6881107CEF4}"/>
              </a:ext>
            </a:extLst>
          </p:cNvPr>
          <p:cNvSpPr txBox="1">
            <a:spLocks/>
          </p:cNvSpPr>
          <p:nvPr/>
        </p:nvSpPr>
        <p:spPr>
          <a:xfrm>
            <a:off x="3610860" y="2426103"/>
            <a:ext cx="2221061" cy="323314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indent="-177800"/>
            <a:r>
              <a:rPr lang="en-GB" sz="1800" dirty="0"/>
              <a:t>Designing database schemas</a:t>
            </a:r>
          </a:p>
          <a:p>
            <a:pPr marL="177800" indent="-177800"/>
            <a:r>
              <a:rPr lang="en-GB" sz="1800" dirty="0"/>
              <a:t>Optimizing performance  and writing efficient queries</a:t>
            </a:r>
          </a:p>
          <a:p>
            <a:pPr marL="177800" indent="-177800"/>
            <a:r>
              <a:rPr lang="en-GB" sz="1800" dirty="0"/>
              <a:t>Managing data migrations, and data integrity/security</a:t>
            </a:r>
          </a:p>
        </p:txBody>
      </p:sp>
      <p:sp>
        <p:nvSpPr>
          <p:cNvPr id="7" name="Google Shape;1671;p42">
            <a:extLst>
              <a:ext uri="{FF2B5EF4-FFF2-40B4-BE49-F238E27FC236}">
                <a16:creationId xmlns:a16="http://schemas.microsoft.com/office/drawing/2014/main" id="{31C57DA4-D968-4FD1-8965-993EF2EBA6ED}"/>
              </a:ext>
            </a:extLst>
          </p:cNvPr>
          <p:cNvSpPr txBox="1">
            <a:spLocks/>
          </p:cNvSpPr>
          <p:nvPr/>
        </p:nvSpPr>
        <p:spPr>
          <a:xfrm>
            <a:off x="6096000" y="2545516"/>
            <a:ext cx="2593447" cy="266885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indent="-177800"/>
            <a:r>
              <a:rPr lang="en-GB" sz="1800" dirty="0"/>
              <a:t>Designing RESTful APIs</a:t>
            </a:r>
          </a:p>
          <a:p>
            <a:pPr marL="177800" indent="-177800"/>
            <a:r>
              <a:rPr lang="en-GB" sz="1800" dirty="0"/>
              <a:t>Creating documentation</a:t>
            </a:r>
          </a:p>
          <a:p>
            <a:pPr marL="177800" indent="-177800"/>
            <a:r>
              <a:rPr lang="en-GB" sz="1800" dirty="0"/>
              <a:t>Implementing authentication and authorization</a:t>
            </a:r>
          </a:p>
          <a:p>
            <a:pPr marL="177800" indent="-177800"/>
            <a:r>
              <a:rPr lang="en-GB" sz="1800" dirty="0"/>
              <a:t>Managing API versions and security</a:t>
            </a:r>
          </a:p>
        </p:txBody>
      </p:sp>
      <p:sp>
        <p:nvSpPr>
          <p:cNvPr id="8" name="Google Shape;1672;p42">
            <a:extLst>
              <a:ext uri="{FF2B5EF4-FFF2-40B4-BE49-F238E27FC236}">
                <a16:creationId xmlns:a16="http://schemas.microsoft.com/office/drawing/2014/main" id="{4A92240E-82AE-4109-A177-5862C240606D}"/>
              </a:ext>
            </a:extLst>
          </p:cNvPr>
          <p:cNvSpPr txBox="1">
            <a:spLocks/>
          </p:cNvSpPr>
          <p:nvPr/>
        </p:nvSpPr>
        <p:spPr>
          <a:xfrm>
            <a:off x="1061364" y="1427585"/>
            <a:ext cx="2279526" cy="996634"/>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Server-Side Development</a:t>
            </a:r>
          </a:p>
        </p:txBody>
      </p:sp>
      <p:sp>
        <p:nvSpPr>
          <p:cNvPr id="9" name="Google Shape;1673;p42">
            <a:extLst>
              <a:ext uri="{FF2B5EF4-FFF2-40B4-BE49-F238E27FC236}">
                <a16:creationId xmlns:a16="http://schemas.microsoft.com/office/drawing/2014/main" id="{9E3F65A0-39AB-4C22-8812-AA8576895F95}"/>
              </a:ext>
            </a:extLst>
          </p:cNvPr>
          <p:cNvSpPr txBox="1">
            <a:spLocks/>
          </p:cNvSpPr>
          <p:nvPr/>
        </p:nvSpPr>
        <p:spPr>
          <a:xfrm>
            <a:off x="3385405" y="1485730"/>
            <a:ext cx="2374107" cy="934648"/>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9700" indent="0">
              <a:buNone/>
            </a:pPr>
            <a:r>
              <a:rPr lang="en-GB" b="1" dirty="0"/>
              <a:t>Database Management</a:t>
            </a:r>
          </a:p>
        </p:txBody>
      </p:sp>
      <p:sp>
        <p:nvSpPr>
          <p:cNvPr id="10" name="Google Shape;1668;p42">
            <a:extLst>
              <a:ext uri="{FF2B5EF4-FFF2-40B4-BE49-F238E27FC236}">
                <a16:creationId xmlns:a16="http://schemas.microsoft.com/office/drawing/2014/main" id="{B368BA89-EBD5-43B8-857A-6D2B7F401BE9}"/>
              </a:ext>
            </a:extLst>
          </p:cNvPr>
          <p:cNvSpPr txBox="1">
            <a:spLocks/>
          </p:cNvSpPr>
          <p:nvPr/>
        </p:nvSpPr>
        <p:spPr>
          <a:xfrm>
            <a:off x="8813974" y="1326360"/>
            <a:ext cx="2374107" cy="11237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r>
              <a:rPr lang="en-GB" sz="2800" dirty="0"/>
              <a:t>System Architecture</a:t>
            </a:r>
          </a:p>
        </p:txBody>
      </p:sp>
      <p:sp>
        <p:nvSpPr>
          <p:cNvPr id="11" name="Google Shape;1671;p42">
            <a:extLst>
              <a:ext uri="{FF2B5EF4-FFF2-40B4-BE49-F238E27FC236}">
                <a16:creationId xmlns:a16="http://schemas.microsoft.com/office/drawing/2014/main" id="{1176F62C-F22E-4759-AAA9-C655FE90C1C0}"/>
              </a:ext>
            </a:extLst>
          </p:cNvPr>
          <p:cNvSpPr txBox="1">
            <a:spLocks/>
          </p:cNvSpPr>
          <p:nvPr/>
        </p:nvSpPr>
        <p:spPr>
          <a:xfrm>
            <a:off x="8860037" y="2465212"/>
            <a:ext cx="2281980" cy="26688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77800" lvl="0" indent="-138113">
              <a:buFont typeface="Arial" panose="020B0604020202020204" pitchFamily="34" charset="0"/>
              <a:buChar char="•"/>
            </a:pPr>
            <a:r>
              <a:rPr lang="en-GB" sz="1800" dirty="0"/>
              <a:t>Designing scalable systems</a:t>
            </a:r>
          </a:p>
          <a:p>
            <a:pPr marL="177800" lvl="0" indent="-138113">
              <a:buFont typeface="Arial" panose="020B0604020202020204" pitchFamily="34" charset="0"/>
              <a:buChar char="•"/>
            </a:pPr>
            <a:r>
              <a:rPr lang="en-GB" sz="1800" dirty="0"/>
              <a:t>Planning for high availability</a:t>
            </a:r>
          </a:p>
          <a:p>
            <a:pPr marL="177800" lvl="0" indent="-138113">
              <a:buFont typeface="Arial" panose="020B0604020202020204" pitchFamily="34" charset="0"/>
              <a:buChar char="•"/>
            </a:pPr>
            <a:r>
              <a:rPr lang="en-GB" sz="1800" dirty="0"/>
              <a:t>Implementing caching strategies</a:t>
            </a:r>
          </a:p>
          <a:p>
            <a:pPr marL="177800" lvl="0" indent="-138113">
              <a:buFont typeface="Arial" panose="020B0604020202020204" pitchFamily="34" charset="0"/>
              <a:buChar char="•"/>
            </a:pPr>
            <a:r>
              <a:rPr lang="en-GB" sz="1800" dirty="0"/>
              <a:t>Managing server resources</a:t>
            </a:r>
          </a:p>
          <a:p>
            <a:pPr marL="177800" lvl="0" indent="-138113">
              <a:buFont typeface="Arial" panose="020B0604020202020204" pitchFamily="34" charset="0"/>
              <a:buChar char="•"/>
            </a:pPr>
            <a:r>
              <a:rPr lang="en-GB" sz="1800" dirty="0"/>
              <a:t>Planning for disaster recovery</a:t>
            </a:r>
          </a:p>
        </p:txBody>
      </p:sp>
      <p:sp>
        <p:nvSpPr>
          <p:cNvPr id="3" name="Slide Number Placeholder 2">
            <a:extLst>
              <a:ext uri="{FF2B5EF4-FFF2-40B4-BE49-F238E27FC236}">
                <a16:creationId xmlns:a16="http://schemas.microsoft.com/office/drawing/2014/main" id="{6A6B52C5-E23B-43C1-9849-E6C7F9C6DD35}"/>
              </a:ext>
            </a:extLst>
          </p:cNvPr>
          <p:cNvSpPr>
            <a:spLocks noGrp="1"/>
          </p:cNvSpPr>
          <p:nvPr>
            <p:ph type="sldNum" sz="quarter" idx="12"/>
          </p:nvPr>
        </p:nvSpPr>
        <p:spPr/>
        <p:txBody>
          <a:bodyPr/>
          <a:lstStyle/>
          <a:p>
            <a:fld id="{D31C74E5-D250-4BDE-BB1A-AE4DD479CC99}" type="slidenum">
              <a:rPr lang="en-GB" smtClean="0"/>
              <a:t>5</a:t>
            </a:fld>
            <a:endParaRPr lang="en-GB"/>
          </a:p>
        </p:txBody>
      </p:sp>
    </p:spTree>
    <p:extLst>
      <p:ext uri="{BB962C8B-B14F-4D97-AF65-F5344CB8AC3E}">
        <p14:creationId xmlns:p14="http://schemas.microsoft.com/office/powerpoint/2010/main" val="2389812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7" y="-2715"/>
            <a:ext cx="7704000"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Requirements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4" name="Google Shape;1668;p42">
            <a:extLst>
              <a:ext uri="{FF2B5EF4-FFF2-40B4-BE49-F238E27FC236}">
                <a16:creationId xmlns:a16="http://schemas.microsoft.com/office/drawing/2014/main" id="{8E2F28EC-977B-43D9-AB0C-A6189BA2F22E}"/>
              </a:ext>
            </a:extLst>
          </p:cNvPr>
          <p:cNvSpPr txBox="1">
            <a:spLocks/>
          </p:cNvSpPr>
          <p:nvPr/>
        </p:nvSpPr>
        <p:spPr>
          <a:xfrm>
            <a:off x="6818099" y="1448041"/>
            <a:ext cx="1981800" cy="402300"/>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Franklin Gothic Book" panose="020B0503020102020204" pitchFamily="34" charset="0"/>
              </a:rPr>
              <a:t>Soft Skills</a:t>
            </a: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720000" y="1882177"/>
            <a:ext cx="4458490" cy="422937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GB" sz="2000" b="1" dirty="0">
                <a:latin typeface="Franklin Gothic Book" panose="020B0503020102020204" pitchFamily="34" charset="0"/>
              </a:rPr>
              <a:t>Programming Languages: </a:t>
            </a:r>
            <a:r>
              <a:rPr lang="en-GB" sz="2000" dirty="0">
                <a:latin typeface="Franklin Gothic Book" panose="020B0503020102020204" pitchFamily="34" charset="0"/>
              </a:rPr>
              <a:t>Java, Python, PHP, Ruby, Node.js, C#, Go</a:t>
            </a:r>
          </a:p>
          <a:p>
            <a:pPr marL="285750" indent="-285750"/>
            <a:r>
              <a:rPr lang="en-GB" sz="2000" b="1" dirty="0">
                <a:latin typeface="Franklin Gothic Book" panose="020B0503020102020204" pitchFamily="34" charset="0"/>
              </a:rPr>
              <a:t>Databases: </a:t>
            </a:r>
            <a:r>
              <a:rPr lang="en-GB" sz="2000" dirty="0">
                <a:latin typeface="Franklin Gothic Book" panose="020B0503020102020204" pitchFamily="34" charset="0"/>
              </a:rPr>
              <a:t>Relational (MySQL, </a:t>
            </a:r>
            <a:r>
              <a:rPr lang="en-GB" sz="2000" i="1" dirty="0">
                <a:latin typeface="Franklin Gothic Book" panose="020B0503020102020204" pitchFamily="34" charset="0"/>
              </a:rPr>
              <a:t>PostgreSQL, SQL Server</a:t>
            </a:r>
            <a:r>
              <a:rPr lang="en-GB" sz="2000" dirty="0">
                <a:latin typeface="Franklin Gothic Book" panose="020B0503020102020204" pitchFamily="34" charset="0"/>
              </a:rPr>
              <a:t>) and NoSQL (MongoDB, </a:t>
            </a:r>
            <a:r>
              <a:rPr lang="en-GB" sz="2000" i="1" dirty="0">
                <a:latin typeface="Franklin Gothic Book" panose="020B0503020102020204" pitchFamily="34" charset="0"/>
              </a:rPr>
              <a:t>Cassandra, Redis</a:t>
            </a:r>
            <a:r>
              <a:rPr lang="en-GB" sz="2000" dirty="0">
                <a:latin typeface="Franklin Gothic Book" panose="020B0503020102020204" pitchFamily="34" charset="0"/>
              </a:rPr>
              <a:t>)</a:t>
            </a:r>
          </a:p>
          <a:p>
            <a:pPr marL="285750" indent="-285750"/>
            <a:r>
              <a:rPr lang="en-GB" sz="2000" b="1" dirty="0">
                <a:latin typeface="Franklin Gothic Book" panose="020B0503020102020204" pitchFamily="34" charset="0"/>
              </a:rPr>
              <a:t>Tools &amp; Technologies: </a:t>
            </a:r>
            <a:r>
              <a:rPr lang="en-GB" sz="2000" dirty="0">
                <a:latin typeface="Franklin Gothic Book" panose="020B0503020102020204" pitchFamily="34" charset="0"/>
              </a:rPr>
              <a:t>Version Control (Git), CI/CD tools, Container technologies (Docker, Kubernetes), Cloud platforms (AWS, Azure, GCP)</a:t>
            </a:r>
          </a:p>
          <a:p>
            <a:pPr marL="0" indent="0"/>
            <a:endParaRPr lang="en-GB" sz="2000" dirty="0">
              <a:latin typeface="Franklin Gothic Book" panose="020B0503020102020204" pitchFamily="34" charset="0"/>
            </a:endParaRPr>
          </a:p>
        </p:txBody>
      </p:sp>
      <p:sp>
        <p:nvSpPr>
          <p:cNvPr id="6" name="Google Shape;1671;p42">
            <a:extLst>
              <a:ext uri="{FF2B5EF4-FFF2-40B4-BE49-F238E27FC236}">
                <a16:creationId xmlns:a16="http://schemas.microsoft.com/office/drawing/2014/main" id="{AB50B879-D176-44A1-B927-BF91CE27791A}"/>
              </a:ext>
            </a:extLst>
          </p:cNvPr>
          <p:cNvSpPr txBox="1">
            <a:spLocks/>
          </p:cNvSpPr>
          <p:nvPr/>
        </p:nvSpPr>
        <p:spPr>
          <a:xfrm>
            <a:off x="7013512" y="1757035"/>
            <a:ext cx="3814092" cy="374802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latin typeface="Franklin Gothic Book" panose="020B0503020102020204" pitchFamily="34" charset="0"/>
              </a:rPr>
              <a:t>Patience</a:t>
            </a:r>
          </a:p>
          <a:p>
            <a:r>
              <a:rPr lang="en-GB" sz="2000" dirty="0">
                <a:latin typeface="Franklin Gothic Book" panose="020B0503020102020204" pitchFamily="34" charset="0"/>
              </a:rPr>
              <a:t>Dedication</a:t>
            </a:r>
          </a:p>
          <a:p>
            <a:r>
              <a:rPr lang="en-GB" sz="2000" dirty="0">
                <a:latin typeface="Franklin Gothic Book" panose="020B0503020102020204" pitchFamily="34" charset="0"/>
              </a:rPr>
              <a:t>Problem-solving ability</a:t>
            </a:r>
          </a:p>
          <a:p>
            <a:r>
              <a:rPr lang="en-GB" sz="2000" dirty="0">
                <a:latin typeface="Franklin Gothic Book" panose="020B0503020102020204" pitchFamily="34" charset="0"/>
              </a:rPr>
              <a:t>Analytical thinking</a:t>
            </a:r>
          </a:p>
          <a:p>
            <a:r>
              <a:rPr lang="en-GB" sz="2000" dirty="0">
                <a:latin typeface="Franklin Gothic Book" panose="020B0503020102020204" pitchFamily="34" charset="0"/>
              </a:rPr>
              <a:t>Communication skills</a:t>
            </a:r>
          </a:p>
          <a:p>
            <a:r>
              <a:rPr lang="en-GB" sz="2000" dirty="0">
                <a:latin typeface="Franklin Gothic Book" panose="020B0503020102020204" pitchFamily="34" charset="0"/>
              </a:rPr>
              <a:t>Team collaboration</a:t>
            </a:r>
          </a:p>
          <a:p>
            <a:r>
              <a:rPr lang="en-GB" sz="2000" dirty="0">
                <a:latin typeface="Franklin Gothic Book" panose="020B0503020102020204" pitchFamily="34" charset="0"/>
              </a:rPr>
              <a:t>Documentation skills</a:t>
            </a:r>
          </a:p>
          <a:p>
            <a:r>
              <a:rPr lang="en-GB" sz="2000" dirty="0">
                <a:latin typeface="Franklin Gothic Book" panose="020B0503020102020204" pitchFamily="34" charset="0"/>
              </a:rPr>
              <a:t>Time management</a:t>
            </a:r>
          </a:p>
        </p:txBody>
      </p:sp>
      <p:sp>
        <p:nvSpPr>
          <p:cNvPr id="7" name="Google Shape;1672;p42">
            <a:extLst>
              <a:ext uri="{FF2B5EF4-FFF2-40B4-BE49-F238E27FC236}">
                <a16:creationId xmlns:a16="http://schemas.microsoft.com/office/drawing/2014/main" id="{0B69D585-EFF5-4AC7-A4D0-90B9CEB1704B}"/>
              </a:ext>
            </a:extLst>
          </p:cNvPr>
          <p:cNvSpPr txBox="1">
            <a:spLocks/>
          </p:cNvSpPr>
          <p:nvPr/>
        </p:nvSpPr>
        <p:spPr>
          <a:xfrm>
            <a:off x="720000" y="1277641"/>
            <a:ext cx="3739826" cy="572700"/>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dirty="0">
                <a:latin typeface="Franklin Gothic Book" panose="020B0503020102020204" pitchFamily="34" charset="0"/>
              </a:rPr>
              <a:t>Technical Skills Required</a:t>
            </a:r>
          </a:p>
        </p:txBody>
      </p:sp>
      <p:sp>
        <p:nvSpPr>
          <p:cNvPr id="3" name="Slide Number Placeholder 2">
            <a:extLst>
              <a:ext uri="{FF2B5EF4-FFF2-40B4-BE49-F238E27FC236}">
                <a16:creationId xmlns:a16="http://schemas.microsoft.com/office/drawing/2014/main" id="{5AAEC1B4-1718-4FC1-862D-31D59B7A1743}"/>
              </a:ext>
            </a:extLst>
          </p:cNvPr>
          <p:cNvSpPr>
            <a:spLocks noGrp="1"/>
          </p:cNvSpPr>
          <p:nvPr>
            <p:ph type="sldNum" sz="quarter" idx="12"/>
          </p:nvPr>
        </p:nvSpPr>
        <p:spPr/>
        <p:txBody>
          <a:bodyPr/>
          <a:lstStyle/>
          <a:p>
            <a:fld id="{D31C74E5-D250-4BDE-BB1A-AE4DD479CC99}" type="slidenum">
              <a:rPr lang="en-GB" smtClean="0"/>
              <a:t>6</a:t>
            </a:fld>
            <a:endParaRPr lang="en-GB"/>
          </a:p>
        </p:txBody>
      </p:sp>
    </p:spTree>
    <p:extLst>
      <p:ext uri="{BB962C8B-B14F-4D97-AF65-F5344CB8AC3E}">
        <p14:creationId xmlns:p14="http://schemas.microsoft.com/office/powerpoint/2010/main" val="2034508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Key Differences from Frontend Development</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710669" y="1027185"/>
            <a:ext cx="7714873" cy="422937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200000"/>
              </a:lnSpc>
            </a:pPr>
            <a:r>
              <a:rPr lang="en-US" sz="2400" dirty="0">
                <a:latin typeface="Franklin Gothic Book" panose="020B0503020102020204" pitchFamily="34" charset="0"/>
              </a:rPr>
              <a:t>Focus on functionality over visual design</a:t>
            </a:r>
          </a:p>
          <a:p>
            <a:pPr marL="342900" lvl="0" indent="-342900">
              <a:lnSpc>
                <a:spcPct val="200000"/>
              </a:lnSpc>
            </a:pPr>
            <a:r>
              <a:rPr lang="en-US" sz="2400" dirty="0">
                <a:latin typeface="Franklin Gothic Book" panose="020B0503020102020204" pitchFamily="34" charset="0"/>
              </a:rPr>
              <a:t>Much emphasis on data and systems</a:t>
            </a:r>
          </a:p>
          <a:p>
            <a:pPr marL="342900" lvl="0" indent="-342900">
              <a:lnSpc>
                <a:spcPct val="200000"/>
              </a:lnSpc>
            </a:pPr>
            <a:r>
              <a:rPr lang="en-US" sz="2400" dirty="0">
                <a:latin typeface="Franklin Gothic Book" panose="020B0503020102020204" pitchFamily="34" charset="0"/>
              </a:rPr>
              <a:t>Greater concern with scalability and performance</a:t>
            </a:r>
          </a:p>
          <a:p>
            <a:pPr marL="342900" lvl="0" indent="-342900">
              <a:lnSpc>
                <a:spcPct val="200000"/>
              </a:lnSpc>
            </a:pPr>
            <a:r>
              <a:rPr lang="en-US" sz="2400" dirty="0">
                <a:latin typeface="Franklin Gothic Book" panose="020B0503020102020204" pitchFamily="34" charset="0"/>
              </a:rPr>
              <a:t>More direct involvement with infrastructure</a:t>
            </a:r>
          </a:p>
          <a:p>
            <a:pPr marL="342900" lvl="0" indent="-342900">
              <a:lnSpc>
                <a:spcPct val="200000"/>
              </a:lnSpc>
            </a:pPr>
            <a:r>
              <a:rPr lang="en-US" sz="2400" dirty="0">
                <a:latin typeface="Franklin Gothic Book" panose="020B0503020102020204" pitchFamily="34" charset="0"/>
              </a:rPr>
              <a:t>Higher priority on security implementation</a:t>
            </a:r>
          </a:p>
        </p:txBody>
      </p:sp>
      <p:sp>
        <p:nvSpPr>
          <p:cNvPr id="3" name="Slide Number Placeholder 2">
            <a:extLst>
              <a:ext uri="{FF2B5EF4-FFF2-40B4-BE49-F238E27FC236}">
                <a16:creationId xmlns:a16="http://schemas.microsoft.com/office/drawing/2014/main" id="{930850B6-622F-4BDC-9A96-3FD99F1FCBAD}"/>
              </a:ext>
            </a:extLst>
          </p:cNvPr>
          <p:cNvSpPr>
            <a:spLocks noGrp="1"/>
          </p:cNvSpPr>
          <p:nvPr>
            <p:ph type="sldNum" sz="quarter" idx="12"/>
          </p:nvPr>
        </p:nvSpPr>
        <p:spPr/>
        <p:txBody>
          <a:bodyPr/>
          <a:lstStyle/>
          <a:p>
            <a:fld id="{D31C74E5-D250-4BDE-BB1A-AE4DD479CC99}" type="slidenum">
              <a:rPr lang="en-GB" smtClean="0"/>
              <a:t>7</a:t>
            </a:fld>
            <a:endParaRPr lang="en-GB"/>
          </a:p>
        </p:txBody>
      </p:sp>
    </p:spTree>
    <p:extLst>
      <p:ext uri="{BB962C8B-B14F-4D97-AF65-F5344CB8AC3E}">
        <p14:creationId xmlns:p14="http://schemas.microsoft.com/office/powerpoint/2010/main" val="389729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Possible challenges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719999" y="569985"/>
            <a:ext cx="8312033" cy="521499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200000"/>
              </a:lnSpc>
            </a:pPr>
            <a:r>
              <a:rPr lang="en-US" sz="2400" dirty="0">
                <a:latin typeface="Franklin Gothic Book" panose="020B0503020102020204" pitchFamily="34" charset="0"/>
              </a:rPr>
              <a:t>Managing complex systems</a:t>
            </a:r>
          </a:p>
          <a:p>
            <a:pPr marL="342900" lvl="0" indent="-342900">
              <a:lnSpc>
                <a:spcPct val="200000"/>
              </a:lnSpc>
            </a:pPr>
            <a:r>
              <a:rPr lang="en-US" sz="2400" dirty="0">
                <a:latin typeface="Franklin Gothic Book" panose="020B0503020102020204" pitchFamily="34" charset="0"/>
              </a:rPr>
              <a:t>Handling high traffic loads</a:t>
            </a:r>
          </a:p>
          <a:p>
            <a:pPr marL="342900" lvl="0" indent="-342900">
              <a:lnSpc>
                <a:spcPct val="200000"/>
              </a:lnSpc>
            </a:pPr>
            <a:r>
              <a:rPr lang="en-US" sz="2400" dirty="0">
                <a:latin typeface="Franklin Gothic Book" panose="020B0503020102020204" pitchFamily="34" charset="0"/>
              </a:rPr>
              <a:t>Ensuring data security</a:t>
            </a:r>
          </a:p>
          <a:p>
            <a:pPr marL="342900" lvl="0" indent="-342900">
              <a:lnSpc>
                <a:spcPct val="200000"/>
              </a:lnSpc>
            </a:pPr>
            <a:r>
              <a:rPr lang="en-US" sz="2400" dirty="0">
                <a:latin typeface="Franklin Gothic Book" panose="020B0503020102020204" pitchFamily="34" charset="0"/>
              </a:rPr>
              <a:t>Debugging server issues</a:t>
            </a:r>
          </a:p>
          <a:p>
            <a:pPr marL="342900" lvl="0" indent="-342900">
              <a:lnSpc>
                <a:spcPct val="200000"/>
              </a:lnSpc>
            </a:pPr>
            <a:r>
              <a:rPr lang="en-US" sz="2400" dirty="0">
                <a:latin typeface="Franklin Gothic Book" panose="020B0503020102020204" pitchFamily="34" charset="0"/>
              </a:rPr>
              <a:t>Optimizing performance</a:t>
            </a:r>
          </a:p>
          <a:p>
            <a:pPr marL="342900" lvl="0" indent="-342900">
              <a:lnSpc>
                <a:spcPct val="200000"/>
              </a:lnSpc>
            </a:pPr>
            <a:r>
              <a:rPr lang="en-US" sz="2400" dirty="0">
                <a:latin typeface="Franklin Gothic Book" panose="020B0503020102020204" pitchFamily="34" charset="0"/>
              </a:rPr>
              <a:t>Maintaining legacy systems</a:t>
            </a:r>
          </a:p>
        </p:txBody>
      </p:sp>
      <p:sp>
        <p:nvSpPr>
          <p:cNvPr id="3" name="Slide Number Placeholder 2">
            <a:extLst>
              <a:ext uri="{FF2B5EF4-FFF2-40B4-BE49-F238E27FC236}">
                <a16:creationId xmlns:a16="http://schemas.microsoft.com/office/drawing/2014/main" id="{220EEF88-9888-4676-B3C7-D02BC16DD977}"/>
              </a:ext>
            </a:extLst>
          </p:cNvPr>
          <p:cNvSpPr>
            <a:spLocks noGrp="1"/>
          </p:cNvSpPr>
          <p:nvPr>
            <p:ph type="sldNum" sz="quarter" idx="12"/>
          </p:nvPr>
        </p:nvSpPr>
        <p:spPr/>
        <p:txBody>
          <a:bodyPr/>
          <a:lstStyle/>
          <a:p>
            <a:fld id="{D31C74E5-D250-4BDE-BB1A-AE4DD479CC99}" type="slidenum">
              <a:rPr lang="en-GB" smtClean="0"/>
              <a:t>8</a:t>
            </a:fld>
            <a:endParaRPr lang="en-GB"/>
          </a:p>
        </p:txBody>
      </p:sp>
    </p:spTree>
    <p:extLst>
      <p:ext uri="{BB962C8B-B14F-4D97-AF65-F5344CB8AC3E}">
        <p14:creationId xmlns:p14="http://schemas.microsoft.com/office/powerpoint/2010/main" val="1927092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oogle Shape;1485;p38">
            <a:extLst>
              <a:ext uri="{FF2B5EF4-FFF2-40B4-BE49-F238E27FC236}">
                <a16:creationId xmlns:a16="http://schemas.microsoft.com/office/drawing/2014/main" id="{4708C9EA-391C-4C9D-AF3A-DBD573E05B8F}"/>
              </a:ext>
            </a:extLst>
          </p:cNvPr>
          <p:cNvSpPr txBox="1">
            <a:spLocks/>
          </p:cNvSpPr>
          <p:nvPr/>
        </p:nvSpPr>
        <p:spPr>
          <a:xfrm>
            <a:off x="1531765" y="4217390"/>
            <a:ext cx="7808180" cy="72979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b="1" i="1" dirty="0">
                <a:latin typeface="Franklin Gothic Book" panose="020B0503020102020204" pitchFamily="34" charset="0"/>
              </a:rPr>
              <a:t>— John Johnson</a:t>
            </a:r>
          </a:p>
        </p:txBody>
      </p:sp>
      <p:sp>
        <p:nvSpPr>
          <p:cNvPr id="27" name="Google Shape;1492;p38">
            <a:extLst>
              <a:ext uri="{FF2B5EF4-FFF2-40B4-BE49-F238E27FC236}">
                <a16:creationId xmlns:a16="http://schemas.microsoft.com/office/drawing/2014/main" id="{0239F0AC-2853-4915-A33B-937AD78A5899}"/>
              </a:ext>
            </a:extLst>
          </p:cNvPr>
          <p:cNvSpPr txBox="1">
            <a:spLocks/>
          </p:cNvSpPr>
          <p:nvPr/>
        </p:nvSpPr>
        <p:spPr>
          <a:xfrm>
            <a:off x="1419796" y="2127380"/>
            <a:ext cx="7808180" cy="2015362"/>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Franklin Gothic Book" panose="020B0503020102020204" pitchFamily="34" charset="0"/>
              </a:rPr>
              <a:t>“First, solve the problem. Then write the code”</a:t>
            </a:r>
          </a:p>
        </p:txBody>
      </p:sp>
      <p:sp>
        <p:nvSpPr>
          <p:cNvPr id="73" name="Rectangle 72">
            <a:extLst>
              <a:ext uri="{FF2B5EF4-FFF2-40B4-BE49-F238E27FC236}">
                <a16:creationId xmlns:a16="http://schemas.microsoft.com/office/drawing/2014/main" id="{2CE69ED7-1F92-463B-AAC3-81AAF1EACFC3}"/>
              </a:ext>
            </a:extLst>
          </p:cNvPr>
          <p:cNvSpPr/>
          <p:nvPr/>
        </p:nvSpPr>
        <p:spPr>
          <a:xfrm>
            <a:off x="1531765" y="3972830"/>
            <a:ext cx="4610890" cy="98615"/>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24BC0E19-A414-4C80-ABF4-F6CDFFE25ACE}"/>
              </a:ext>
            </a:extLst>
          </p:cNvPr>
          <p:cNvSpPr>
            <a:spLocks noGrp="1"/>
          </p:cNvSpPr>
          <p:nvPr>
            <p:ph type="sldNum" sz="quarter" idx="12"/>
          </p:nvPr>
        </p:nvSpPr>
        <p:spPr/>
        <p:txBody>
          <a:bodyPr/>
          <a:lstStyle/>
          <a:p>
            <a:fld id="{D31C74E5-D250-4BDE-BB1A-AE4DD479CC99}" type="slidenum">
              <a:rPr lang="en-GB" smtClean="0"/>
              <a:t>9</a:t>
            </a:fld>
            <a:endParaRPr lang="en-GB"/>
          </a:p>
        </p:txBody>
      </p:sp>
    </p:spTree>
    <p:extLst>
      <p:ext uri="{BB962C8B-B14F-4D97-AF65-F5344CB8AC3E}">
        <p14:creationId xmlns:p14="http://schemas.microsoft.com/office/powerpoint/2010/main" val="3984945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484;p38">
            <a:extLst>
              <a:ext uri="{FF2B5EF4-FFF2-40B4-BE49-F238E27FC236}">
                <a16:creationId xmlns:a16="http://schemas.microsoft.com/office/drawing/2014/main" id="{825371F4-9DE3-4FDA-8C45-F2BD615809A9}"/>
              </a:ext>
            </a:extLst>
          </p:cNvPr>
          <p:cNvSpPr txBox="1">
            <a:spLocks/>
          </p:cNvSpPr>
          <p:nvPr/>
        </p:nvSpPr>
        <p:spPr>
          <a:xfrm>
            <a:off x="1419796" y="1941420"/>
            <a:ext cx="2374674" cy="152489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sz="6000" b="1" i="1" dirty="0">
                <a:latin typeface="Franklin Gothic Book" panose="020B0503020102020204" pitchFamily="34" charset="0"/>
              </a:rPr>
              <a:t>02</a:t>
            </a:r>
          </a:p>
        </p:txBody>
      </p:sp>
      <p:sp>
        <p:nvSpPr>
          <p:cNvPr id="20" name="Google Shape;1485;p38">
            <a:extLst>
              <a:ext uri="{FF2B5EF4-FFF2-40B4-BE49-F238E27FC236}">
                <a16:creationId xmlns:a16="http://schemas.microsoft.com/office/drawing/2014/main" id="{4708C9EA-391C-4C9D-AF3A-DBD573E05B8F}"/>
              </a:ext>
            </a:extLst>
          </p:cNvPr>
          <p:cNvSpPr txBox="1">
            <a:spLocks/>
          </p:cNvSpPr>
          <p:nvPr/>
        </p:nvSpPr>
        <p:spPr>
          <a:xfrm>
            <a:off x="1531765" y="4899028"/>
            <a:ext cx="7808180" cy="72979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dirty="0">
                <a:latin typeface="Franklin Gothic Book" panose="020B0503020102020204" pitchFamily="34" charset="0"/>
              </a:rPr>
              <a:t>What should you know?</a:t>
            </a:r>
          </a:p>
        </p:txBody>
      </p:sp>
      <p:sp>
        <p:nvSpPr>
          <p:cNvPr id="27" name="Google Shape;1492;p38">
            <a:extLst>
              <a:ext uri="{FF2B5EF4-FFF2-40B4-BE49-F238E27FC236}">
                <a16:creationId xmlns:a16="http://schemas.microsoft.com/office/drawing/2014/main" id="{0239F0AC-2853-4915-A33B-937AD78A5899}"/>
              </a:ext>
            </a:extLst>
          </p:cNvPr>
          <p:cNvSpPr txBox="1">
            <a:spLocks/>
          </p:cNvSpPr>
          <p:nvPr/>
        </p:nvSpPr>
        <p:spPr>
          <a:xfrm>
            <a:off x="1419796" y="3178773"/>
            <a:ext cx="7808180" cy="1352847"/>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6000" b="1" dirty="0">
                <a:latin typeface="Franklin Gothic Book" panose="020B0503020102020204" pitchFamily="34" charset="0"/>
              </a:rPr>
              <a:t>Thinking like a backend developer</a:t>
            </a:r>
          </a:p>
        </p:txBody>
      </p:sp>
      <p:sp>
        <p:nvSpPr>
          <p:cNvPr id="73" name="Rectangle 72">
            <a:extLst>
              <a:ext uri="{FF2B5EF4-FFF2-40B4-BE49-F238E27FC236}">
                <a16:creationId xmlns:a16="http://schemas.microsoft.com/office/drawing/2014/main" id="{2CE69ED7-1F92-463B-AAC3-81AAF1EACFC3}"/>
              </a:ext>
            </a:extLst>
          </p:cNvPr>
          <p:cNvSpPr/>
          <p:nvPr/>
        </p:nvSpPr>
        <p:spPr>
          <a:xfrm>
            <a:off x="1531765" y="4654468"/>
            <a:ext cx="4610890" cy="98615"/>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030C4354-6861-4F44-BDA3-623771CC3046}"/>
              </a:ext>
            </a:extLst>
          </p:cNvPr>
          <p:cNvSpPr>
            <a:spLocks noGrp="1"/>
          </p:cNvSpPr>
          <p:nvPr>
            <p:ph type="sldNum" sz="quarter" idx="12"/>
          </p:nvPr>
        </p:nvSpPr>
        <p:spPr/>
        <p:txBody>
          <a:bodyPr/>
          <a:lstStyle/>
          <a:p>
            <a:fld id="{D31C74E5-D250-4BDE-BB1A-AE4DD479CC99}" type="slidenum">
              <a:rPr lang="en-GB" smtClean="0"/>
              <a:t>10</a:t>
            </a:fld>
            <a:endParaRPr lang="en-GB"/>
          </a:p>
        </p:txBody>
      </p:sp>
    </p:spTree>
    <p:extLst>
      <p:ext uri="{BB962C8B-B14F-4D97-AF65-F5344CB8AC3E}">
        <p14:creationId xmlns:p14="http://schemas.microsoft.com/office/powerpoint/2010/main" val="675234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Thinking like a backend developer</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911410" y="821502"/>
            <a:ext cx="10369179" cy="521499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50000"/>
              </a:lnSpc>
              <a:buNone/>
            </a:pPr>
            <a:r>
              <a:rPr lang="en-US" sz="2400" dirty="0">
                <a:latin typeface="Franklin Gothic Book" panose="020B0503020102020204" pitchFamily="34" charset="0"/>
              </a:rPr>
              <a:t>Thinking like a backend developer involves a combination of technical skills, problem-solving strategies, and mindset shifts to achieve your desired goals.</a:t>
            </a:r>
            <a:br>
              <a:rPr lang="en-US" sz="2400" dirty="0">
                <a:latin typeface="Franklin Gothic Book" panose="020B0503020102020204" pitchFamily="34" charset="0"/>
              </a:rPr>
            </a:br>
            <a:r>
              <a:rPr lang="en-US" sz="2400" b="1" dirty="0">
                <a:latin typeface="Franklin Gothic Book" panose="020B0503020102020204" pitchFamily="34" charset="0"/>
              </a:rPr>
              <a:t>CRITICAL THINKING FOR PROPER PROBLEM-SOLVING</a:t>
            </a:r>
          </a:p>
          <a:p>
            <a:pPr marL="0" lvl="0" indent="0">
              <a:lnSpc>
                <a:spcPct val="150000"/>
              </a:lnSpc>
              <a:buNone/>
            </a:pPr>
            <a:r>
              <a:rPr lang="en-US" sz="2400" dirty="0">
                <a:latin typeface="Franklin Gothic Book" panose="020B0503020102020204" pitchFamily="34" charset="0"/>
              </a:rPr>
              <a:t>Here are the four things:</a:t>
            </a:r>
          </a:p>
          <a:p>
            <a:pPr marL="457200" lvl="0" indent="-457200">
              <a:lnSpc>
                <a:spcPct val="150000"/>
              </a:lnSpc>
              <a:buFont typeface="+mj-lt"/>
              <a:buAutoNum type="arabicPeriod"/>
            </a:pPr>
            <a:r>
              <a:rPr lang="en-US" sz="2400" dirty="0">
                <a:latin typeface="Franklin Gothic Book" panose="020B0503020102020204" pitchFamily="34" charset="0"/>
              </a:rPr>
              <a:t>Problem-solving strategies</a:t>
            </a:r>
          </a:p>
          <a:p>
            <a:pPr marL="457200" lvl="0" indent="-457200">
              <a:lnSpc>
                <a:spcPct val="150000"/>
              </a:lnSpc>
              <a:buFont typeface="+mj-lt"/>
              <a:buAutoNum type="arabicPeriod"/>
            </a:pPr>
            <a:r>
              <a:rPr lang="en-US" sz="2400" dirty="0">
                <a:latin typeface="Franklin Gothic Book" panose="020B0503020102020204" pitchFamily="34" charset="0"/>
              </a:rPr>
              <a:t>Mindset shift</a:t>
            </a:r>
          </a:p>
          <a:p>
            <a:pPr marL="457200" lvl="0" indent="-457200">
              <a:lnSpc>
                <a:spcPct val="150000"/>
              </a:lnSpc>
              <a:buFont typeface="+mj-lt"/>
              <a:buAutoNum type="arabicPeriod"/>
            </a:pPr>
            <a:r>
              <a:rPr lang="en-US" sz="2400" dirty="0">
                <a:latin typeface="Franklin Gothic Book" panose="020B0503020102020204" pitchFamily="34" charset="0"/>
              </a:rPr>
              <a:t>Best Practices</a:t>
            </a:r>
          </a:p>
          <a:p>
            <a:pPr marL="457200" lvl="0" indent="-457200">
              <a:lnSpc>
                <a:spcPct val="150000"/>
              </a:lnSpc>
              <a:buFont typeface="+mj-lt"/>
              <a:buAutoNum type="arabicPeriod"/>
            </a:pPr>
            <a:r>
              <a:rPr lang="en-US" sz="2400" dirty="0">
                <a:latin typeface="Franklin Gothic Book" panose="020B0503020102020204" pitchFamily="34" charset="0"/>
              </a:rPr>
              <a:t>Development Principles</a:t>
            </a:r>
          </a:p>
        </p:txBody>
      </p:sp>
      <p:sp>
        <p:nvSpPr>
          <p:cNvPr id="3" name="Slide Number Placeholder 2">
            <a:extLst>
              <a:ext uri="{FF2B5EF4-FFF2-40B4-BE49-F238E27FC236}">
                <a16:creationId xmlns:a16="http://schemas.microsoft.com/office/drawing/2014/main" id="{89F760CB-A1E4-455F-AD15-E6CDCC8E5C01}"/>
              </a:ext>
            </a:extLst>
          </p:cNvPr>
          <p:cNvSpPr>
            <a:spLocks noGrp="1"/>
          </p:cNvSpPr>
          <p:nvPr>
            <p:ph type="sldNum" sz="quarter" idx="12"/>
          </p:nvPr>
        </p:nvSpPr>
        <p:spPr/>
        <p:txBody>
          <a:bodyPr/>
          <a:lstStyle/>
          <a:p>
            <a:fld id="{D31C74E5-D250-4BDE-BB1A-AE4DD479CC99}" type="slidenum">
              <a:rPr lang="en-GB" smtClean="0"/>
              <a:t>11</a:t>
            </a:fld>
            <a:endParaRPr lang="en-GB"/>
          </a:p>
        </p:txBody>
      </p:sp>
    </p:spTree>
    <p:extLst>
      <p:ext uri="{BB962C8B-B14F-4D97-AF65-F5344CB8AC3E}">
        <p14:creationId xmlns:p14="http://schemas.microsoft.com/office/powerpoint/2010/main" val="2196855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Problem-solving strategies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492735" y="821502"/>
            <a:ext cx="11206530" cy="521499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150000"/>
              </a:lnSpc>
            </a:pPr>
            <a:r>
              <a:rPr lang="en-US" sz="2400" dirty="0">
                <a:latin typeface="Franklin Gothic Book" panose="020B0503020102020204" pitchFamily="34" charset="0"/>
              </a:rPr>
              <a:t>Break down complex problems into smaller, manageable parts, especially if you are working in a team. Don’t let someone swear for you when they see your codebase</a:t>
            </a:r>
          </a:p>
          <a:p>
            <a:pPr marL="342900" lvl="0" indent="-342900">
              <a:lnSpc>
                <a:spcPct val="150000"/>
              </a:lnSpc>
            </a:pPr>
            <a:r>
              <a:rPr lang="en-US" sz="2400" dirty="0">
                <a:latin typeface="Franklin Gothic Book" panose="020B0503020102020204" pitchFamily="34" charset="0"/>
              </a:rPr>
              <a:t>Identify and prioritize key features and requirements</a:t>
            </a:r>
          </a:p>
          <a:p>
            <a:pPr marL="342900" lvl="0" indent="-342900">
              <a:lnSpc>
                <a:spcPct val="150000"/>
              </a:lnSpc>
            </a:pPr>
            <a:r>
              <a:rPr lang="en-US" sz="2400" dirty="0">
                <a:latin typeface="Franklin Gothic Book" panose="020B0503020102020204" pitchFamily="34" charset="0"/>
              </a:rPr>
              <a:t>Develop and test hypotheses. This approach helps you see problems early before they become a problem</a:t>
            </a:r>
          </a:p>
          <a:p>
            <a:pPr marL="342900" lvl="0" indent="-342900">
              <a:lnSpc>
                <a:spcPct val="150000"/>
              </a:lnSpc>
            </a:pPr>
            <a:r>
              <a:rPr lang="en-US" sz="2400" dirty="0">
                <a:latin typeface="Franklin Gothic Book" panose="020B0503020102020204" pitchFamily="34" charset="0"/>
              </a:rPr>
              <a:t>Refactor and optimize code</a:t>
            </a:r>
          </a:p>
          <a:p>
            <a:pPr marL="342900" lvl="0" indent="-342900">
              <a:lnSpc>
                <a:spcPct val="150000"/>
              </a:lnSpc>
            </a:pPr>
            <a:r>
              <a:rPr lang="en-US" sz="2400" dirty="0">
                <a:latin typeface="Franklin Gothic Book" panose="020B0503020102020204" pitchFamily="34" charset="0"/>
              </a:rPr>
              <a:t>Collaborate with others (frontend </a:t>
            </a:r>
            <a:r>
              <a:rPr lang="en-US" sz="2400" dirty="0" err="1">
                <a:latin typeface="Franklin Gothic Book" panose="020B0503020102020204" pitchFamily="34" charset="0"/>
              </a:rPr>
              <a:t>devs</a:t>
            </a:r>
            <a:r>
              <a:rPr lang="en-US" sz="2400" dirty="0">
                <a:latin typeface="Franklin Gothic Book" panose="020B0503020102020204" pitchFamily="34" charset="0"/>
              </a:rPr>
              <a:t>, designers, PMs)</a:t>
            </a:r>
          </a:p>
        </p:txBody>
      </p:sp>
      <p:sp>
        <p:nvSpPr>
          <p:cNvPr id="3" name="Slide Number Placeholder 2">
            <a:extLst>
              <a:ext uri="{FF2B5EF4-FFF2-40B4-BE49-F238E27FC236}">
                <a16:creationId xmlns:a16="http://schemas.microsoft.com/office/drawing/2014/main" id="{0756AB02-D488-4C3B-8F91-D185333CB64F}"/>
              </a:ext>
            </a:extLst>
          </p:cNvPr>
          <p:cNvSpPr>
            <a:spLocks noGrp="1"/>
          </p:cNvSpPr>
          <p:nvPr>
            <p:ph type="sldNum" sz="quarter" idx="12"/>
          </p:nvPr>
        </p:nvSpPr>
        <p:spPr/>
        <p:txBody>
          <a:bodyPr/>
          <a:lstStyle/>
          <a:p>
            <a:fld id="{D31C74E5-D250-4BDE-BB1A-AE4DD479CC99}" type="slidenum">
              <a:rPr lang="en-GB" smtClean="0"/>
              <a:t>12</a:t>
            </a:fld>
            <a:endParaRPr lang="en-GB"/>
          </a:p>
        </p:txBody>
      </p:sp>
    </p:spTree>
    <p:extLst>
      <p:ext uri="{BB962C8B-B14F-4D97-AF65-F5344CB8AC3E}">
        <p14:creationId xmlns:p14="http://schemas.microsoft.com/office/powerpoint/2010/main" val="807094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Mindset Shifts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786501" y="821502"/>
            <a:ext cx="9787288" cy="521499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200000"/>
              </a:lnSpc>
            </a:pPr>
            <a:r>
              <a:rPr lang="en-US" sz="2400" b="1" dirty="0">
                <a:latin typeface="Franklin Gothic Book" panose="020B0503020102020204" pitchFamily="34" charset="0"/>
              </a:rPr>
              <a:t>Think server-side: </a:t>
            </a:r>
            <a:r>
              <a:rPr lang="en-US" sz="2400" dirty="0">
                <a:latin typeface="Franklin Gothic Book" panose="020B0503020102020204" pitchFamily="34" charset="0"/>
              </a:rPr>
              <a:t>Focus on data storage, processing, and retrieval</a:t>
            </a:r>
          </a:p>
          <a:p>
            <a:pPr marL="342900" lvl="0" indent="-342900">
              <a:lnSpc>
                <a:spcPct val="200000"/>
              </a:lnSpc>
            </a:pPr>
            <a:r>
              <a:rPr lang="en-US" sz="2400" b="1" dirty="0">
                <a:latin typeface="Franklin Gothic Book" panose="020B0503020102020204" pitchFamily="34" charset="0"/>
              </a:rPr>
              <a:t>Consider scalability: </a:t>
            </a:r>
            <a:r>
              <a:rPr lang="en-US" sz="2400" dirty="0">
                <a:latin typeface="Franklin Gothic Book" panose="020B0503020102020204" pitchFamily="34" charset="0"/>
              </a:rPr>
              <a:t>Design for high traffic and large data sets</a:t>
            </a:r>
          </a:p>
          <a:p>
            <a:pPr marL="342900" lvl="0" indent="-342900">
              <a:lnSpc>
                <a:spcPct val="200000"/>
              </a:lnSpc>
            </a:pPr>
            <a:r>
              <a:rPr lang="en-US" sz="2400" b="1" dirty="0">
                <a:latin typeface="Franklin Gothic Book" panose="020B0503020102020204" pitchFamily="34" charset="0"/>
              </a:rPr>
              <a:t>Ensure security: </a:t>
            </a:r>
            <a:r>
              <a:rPr lang="en-US" sz="2400" dirty="0">
                <a:latin typeface="Franklin Gothic Book" panose="020B0503020102020204" pitchFamily="34" charset="0"/>
              </a:rPr>
              <a:t>Protect sensitive data and prevent vulnerabilities</a:t>
            </a:r>
          </a:p>
          <a:p>
            <a:pPr marL="342900" lvl="0" indent="-342900">
              <a:lnSpc>
                <a:spcPct val="200000"/>
              </a:lnSpc>
            </a:pPr>
            <a:r>
              <a:rPr lang="en-US" sz="2400" b="1" dirty="0">
                <a:latin typeface="Franklin Gothic Book" panose="020B0503020102020204" pitchFamily="34" charset="0"/>
              </a:rPr>
              <a:t>Optimize performance: </a:t>
            </a:r>
            <a:r>
              <a:rPr lang="en-US" sz="2400" dirty="0">
                <a:latin typeface="Franklin Gothic Book" panose="020B0503020102020204" pitchFamily="34" charset="0"/>
              </a:rPr>
              <a:t>Minimize latency and maximize throughput</a:t>
            </a:r>
          </a:p>
          <a:p>
            <a:pPr marL="342900" lvl="0" indent="-342900">
              <a:lnSpc>
                <a:spcPct val="200000"/>
              </a:lnSpc>
            </a:pPr>
            <a:r>
              <a:rPr lang="en-US" sz="2400" b="1" dirty="0">
                <a:latin typeface="Franklin Gothic Book" panose="020B0503020102020204" pitchFamily="34" charset="0"/>
              </a:rPr>
              <a:t>Embrace modularity: </a:t>
            </a:r>
            <a:r>
              <a:rPr lang="en-US" sz="2400" dirty="0">
                <a:latin typeface="Franklin Gothic Book" panose="020B0503020102020204" pitchFamily="34" charset="0"/>
              </a:rPr>
              <a:t>Organize code into reusable components</a:t>
            </a:r>
          </a:p>
        </p:txBody>
      </p:sp>
      <p:sp>
        <p:nvSpPr>
          <p:cNvPr id="3" name="Slide Number Placeholder 2">
            <a:extLst>
              <a:ext uri="{FF2B5EF4-FFF2-40B4-BE49-F238E27FC236}">
                <a16:creationId xmlns:a16="http://schemas.microsoft.com/office/drawing/2014/main" id="{A449A00F-67F6-49D6-9182-9ED4F7B60F36}"/>
              </a:ext>
            </a:extLst>
          </p:cNvPr>
          <p:cNvSpPr>
            <a:spLocks noGrp="1"/>
          </p:cNvSpPr>
          <p:nvPr>
            <p:ph type="sldNum" sz="quarter" idx="12"/>
          </p:nvPr>
        </p:nvSpPr>
        <p:spPr/>
        <p:txBody>
          <a:bodyPr/>
          <a:lstStyle/>
          <a:p>
            <a:fld id="{D31C74E5-D250-4BDE-BB1A-AE4DD479CC99}" type="slidenum">
              <a:rPr lang="en-GB" smtClean="0"/>
              <a:t>13</a:t>
            </a:fld>
            <a:endParaRPr lang="en-GB"/>
          </a:p>
        </p:txBody>
      </p:sp>
    </p:spTree>
    <p:extLst>
      <p:ext uri="{BB962C8B-B14F-4D97-AF65-F5344CB8AC3E}">
        <p14:creationId xmlns:p14="http://schemas.microsoft.com/office/powerpoint/2010/main" val="2492606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GRIT</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745680" y="569985"/>
            <a:ext cx="10455720" cy="521499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200000"/>
              </a:lnSpc>
              <a:buNone/>
            </a:pPr>
            <a:r>
              <a:rPr lang="en-US" sz="2400" dirty="0">
                <a:latin typeface="Franklin Gothic Book" panose="020B0503020102020204" pitchFamily="34" charset="0"/>
              </a:rPr>
              <a:t>Backend development is not just about writing efficient code; it requires resilience, perseverance, and a problem-solving mindset. This is where GRIT comes into play. GRIT, as defined by psychologist Angela Duckworth, is the combination of passion and perseverance toward long-term goals. For backend developers, this quality is crucial because the job often involves tackling complex problems, debugging issues for hours, and continuously improving systems to meet scalability and security needs.</a:t>
            </a:r>
          </a:p>
        </p:txBody>
      </p:sp>
      <p:sp>
        <p:nvSpPr>
          <p:cNvPr id="3" name="Slide Number Placeholder 2">
            <a:extLst>
              <a:ext uri="{FF2B5EF4-FFF2-40B4-BE49-F238E27FC236}">
                <a16:creationId xmlns:a16="http://schemas.microsoft.com/office/drawing/2014/main" id="{A449A00F-67F6-49D6-9182-9ED4F7B60F36}"/>
              </a:ext>
            </a:extLst>
          </p:cNvPr>
          <p:cNvSpPr>
            <a:spLocks noGrp="1"/>
          </p:cNvSpPr>
          <p:nvPr>
            <p:ph type="sldNum" sz="quarter" idx="12"/>
          </p:nvPr>
        </p:nvSpPr>
        <p:spPr/>
        <p:txBody>
          <a:bodyPr/>
          <a:lstStyle/>
          <a:p>
            <a:fld id="{D31C74E5-D250-4BDE-BB1A-AE4DD479CC99}" type="slidenum">
              <a:rPr lang="en-GB" smtClean="0"/>
              <a:t>14</a:t>
            </a:fld>
            <a:endParaRPr lang="en-GB"/>
          </a:p>
        </p:txBody>
      </p:sp>
    </p:spTree>
    <p:extLst>
      <p:ext uri="{BB962C8B-B14F-4D97-AF65-F5344CB8AC3E}">
        <p14:creationId xmlns:p14="http://schemas.microsoft.com/office/powerpoint/2010/main" val="577926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Why GRIT Matters for Backend Developers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325805" y="535817"/>
            <a:ext cx="5496498" cy="5786365"/>
          </a:xfrm>
          <a:prstGeom prst="rect">
            <a:avLst/>
          </a:prstGeom>
          <a:ln>
            <a:solidFill>
              <a:schemeClr val="tx1"/>
            </a:solidFill>
          </a:ln>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50000"/>
              </a:lnSpc>
              <a:buNone/>
            </a:pPr>
            <a:r>
              <a:rPr lang="en-US" sz="1800" b="1" dirty="0">
                <a:latin typeface="Franklin Gothic Book" panose="020B0503020102020204" pitchFamily="34" charset="0"/>
              </a:rPr>
              <a:t>Debugging and Troubleshooting</a:t>
            </a:r>
          </a:p>
          <a:p>
            <a:pPr marL="0" lvl="0" indent="0" algn="just">
              <a:lnSpc>
                <a:spcPct val="150000"/>
              </a:lnSpc>
              <a:buNone/>
            </a:pPr>
            <a:r>
              <a:rPr lang="en-US" sz="1800" dirty="0">
                <a:latin typeface="Franklin Gothic Book" panose="020B0503020102020204" pitchFamily="34" charset="0"/>
              </a:rPr>
              <a:t>A significant part of backend development is debugging—whether it's fixing a memory leak, resolving a deadlock, or hunting down an elusive bug in a production environment. A developer without GRIT may give up too soon, while a gritty developer keeps pushing until the problem is solved.</a:t>
            </a:r>
          </a:p>
          <a:p>
            <a:pPr marL="0" lvl="0" indent="0" algn="just">
              <a:lnSpc>
                <a:spcPct val="150000"/>
              </a:lnSpc>
              <a:buNone/>
            </a:pPr>
            <a:r>
              <a:rPr lang="en-US" sz="1800" dirty="0">
                <a:latin typeface="Franklin Gothic Book" panose="020B0503020102020204" pitchFamily="34" charset="0"/>
              </a:rPr>
              <a:t>Example: You’re working on optimizing a slow database query, and the initial fixes don’t work. Instead of giving up or creating a workaround, GRIT helps you dig deeper into query optimizations, indexing strategies, and caching mechanisms until you find a robust solution.</a:t>
            </a:r>
          </a:p>
        </p:txBody>
      </p:sp>
      <p:sp>
        <p:nvSpPr>
          <p:cNvPr id="3" name="Slide Number Placeholder 2">
            <a:extLst>
              <a:ext uri="{FF2B5EF4-FFF2-40B4-BE49-F238E27FC236}">
                <a16:creationId xmlns:a16="http://schemas.microsoft.com/office/drawing/2014/main" id="{A449A00F-67F6-49D6-9182-9ED4F7B60F36}"/>
              </a:ext>
            </a:extLst>
          </p:cNvPr>
          <p:cNvSpPr>
            <a:spLocks noGrp="1"/>
          </p:cNvSpPr>
          <p:nvPr>
            <p:ph type="sldNum" sz="quarter" idx="12"/>
          </p:nvPr>
        </p:nvSpPr>
        <p:spPr/>
        <p:txBody>
          <a:bodyPr/>
          <a:lstStyle/>
          <a:p>
            <a:fld id="{D31C74E5-D250-4BDE-BB1A-AE4DD479CC99}" type="slidenum">
              <a:rPr lang="en-GB" smtClean="0"/>
              <a:t>15</a:t>
            </a:fld>
            <a:endParaRPr lang="en-GB"/>
          </a:p>
        </p:txBody>
      </p:sp>
      <p:sp>
        <p:nvSpPr>
          <p:cNvPr id="6" name="Google Shape;1669;p42">
            <a:extLst>
              <a:ext uri="{FF2B5EF4-FFF2-40B4-BE49-F238E27FC236}">
                <a16:creationId xmlns:a16="http://schemas.microsoft.com/office/drawing/2014/main" id="{3B1CE0F0-96EA-423F-9E5E-B19AE2E9F5C8}"/>
              </a:ext>
            </a:extLst>
          </p:cNvPr>
          <p:cNvSpPr txBox="1">
            <a:spLocks/>
          </p:cNvSpPr>
          <p:nvPr/>
        </p:nvSpPr>
        <p:spPr>
          <a:xfrm>
            <a:off x="5848740" y="535817"/>
            <a:ext cx="5900808" cy="5786365"/>
          </a:xfrm>
          <a:prstGeom prst="rect">
            <a:avLst/>
          </a:prstGeom>
          <a:ln>
            <a:solidFill>
              <a:schemeClr val="tx1"/>
            </a:solidFill>
          </a:ln>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50000"/>
              </a:lnSpc>
              <a:buNone/>
            </a:pPr>
            <a:r>
              <a:rPr lang="en-US" sz="1800" b="1" dirty="0">
                <a:latin typeface="Franklin Gothic Book" panose="020B0503020102020204" pitchFamily="34" charset="0"/>
              </a:rPr>
              <a:t>Mastering Complex Concepts</a:t>
            </a:r>
          </a:p>
          <a:p>
            <a:pPr marL="0" lvl="0" indent="0" algn="just">
              <a:lnSpc>
                <a:spcPct val="150000"/>
              </a:lnSpc>
              <a:buNone/>
            </a:pPr>
            <a:r>
              <a:rPr lang="en-US" sz="1800" dirty="0">
                <a:latin typeface="Franklin Gothic Book" panose="020B0503020102020204" pitchFamily="34" charset="0"/>
              </a:rPr>
              <a:t>BE involves deep knowledge of topics like data structures, algorithms, API design, security, concurrency, and database management. These concepts take time and effort to fully grasp. A gritty developer continuously learns, improves, and refines their craft rather than settling for just surface-level understanding.</a:t>
            </a:r>
          </a:p>
          <a:p>
            <a:pPr marL="0" lvl="0" indent="0" algn="just">
              <a:lnSpc>
                <a:spcPct val="150000"/>
              </a:lnSpc>
              <a:buNone/>
            </a:pPr>
            <a:r>
              <a:rPr lang="en-US" sz="1800" dirty="0">
                <a:latin typeface="Franklin Gothic Book" panose="020B0503020102020204" pitchFamily="34" charset="0"/>
              </a:rPr>
              <a:t>Example: Learning event-driven architecture or asynchronous processing in Node.js may be challenging at first. A developer with GRIT persists through the complexity until they can effectively implement solutions like Kafka, or </a:t>
            </a:r>
            <a:r>
              <a:rPr lang="en-US" sz="1800" dirty="0" err="1">
                <a:latin typeface="Franklin Gothic Book" panose="020B0503020102020204" pitchFamily="34" charset="0"/>
              </a:rPr>
              <a:t>WebSockets</a:t>
            </a:r>
            <a:r>
              <a:rPr lang="en-US" sz="1800" dirty="0">
                <a:latin typeface="Franklin Gothic Book" panose="020B0503020102020204" pitchFamily="34" charset="0"/>
              </a:rPr>
              <a:t>.</a:t>
            </a:r>
          </a:p>
        </p:txBody>
      </p:sp>
    </p:spTree>
    <p:extLst>
      <p:ext uri="{BB962C8B-B14F-4D97-AF65-F5344CB8AC3E}">
        <p14:creationId xmlns:p14="http://schemas.microsoft.com/office/powerpoint/2010/main" val="1800119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Why GRIT Matters for Backend Developers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325805" y="535817"/>
            <a:ext cx="5496498" cy="5786365"/>
          </a:xfrm>
          <a:prstGeom prst="rect">
            <a:avLst/>
          </a:prstGeom>
          <a:ln>
            <a:solidFill>
              <a:schemeClr val="tx1"/>
            </a:solidFill>
          </a:ln>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50000"/>
              </a:lnSpc>
              <a:buNone/>
            </a:pPr>
            <a:r>
              <a:rPr lang="en-US" sz="1800" b="1" dirty="0">
                <a:latin typeface="Franklin Gothic Book" panose="020B0503020102020204" pitchFamily="34" charset="0"/>
              </a:rPr>
              <a:t>Handling System Failures and Outages</a:t>
            </a:r>
          </a:p>
          <a:p>
            <a:pPr marL="0" lvl="0" indent="0" algn="just">
              <a:lnSpc>
                <a:spcPct val="150000"/>
              </a:lnSpc>
              <a:buNone/>
            </a:pPr>
            <a:r>
              <a:rPr lang="en-US" sz="1800" dirty="0">
                <a:latin typeface="Franklin Gothic Book" panose="020B0503020102020204" pitchFamily="34" charset="0"/>
              </a:rPr>
              <a:t>Production issues can be stressful, especially when an API is failing, users are complaining, and logs are cluttered with cryptic error messages. A gritty developer stays calm, analyzes logs methodically, and doesn’t stop until the root cause is found and fixed.</a:t>
            </a:r>
          </a:p>
          <a:p>
            <a:pPr marL="0" lvl="0" indent="0" algn="just">
              <a:lnSpc>
                <a:spcPct val="150000"/>
              </a:lnSpc>
              <a:buNone/>
            </a:pPr>
            <a:r>
              <a:rPr lang="en-US" sz="1800" dirty="0">
                <a:latin typeface="Franklin Gothic Book" panose="020B0503020102020204" pitchFamily="34" charset="0"/>
              </a:rPr>
              <a:t>Example: A sudden spike in traffic crashes your Node.js API. Instead of panicking, you investigate CPU utilization, memory leaks, database bottlenecks, and then implement rate limiting, load balancing, or caching to prevent future failures.</a:t>
            </a:r>
          </a:p>
        </p:txBody>
      </p:sp>
      <p:sp>
        <p:nvSpPr>
          <p:cNvPr id="3" name="Slide Number Placeholder 2">
            <a:extLst>
              <a:ext uri="{FF2B5EF4-FFF2-40B4-BE49-F238E27FC236}">
                <a16:creationId xmlns:a16="http://schemas.microsoft.com/office/drawing/2014/main" id="{A449A00F-67F6-49D6-9182-9ED4F7B60F36}"/>
              </a:ext>
            </a:extLst>
          </p:cNvPr>
          <p:cNvSpPr>
            <a:spLocks noGrp="1"/>
          </p:cNvSpPr>
          <p:nvPr>
            <p:ph type="sldNum" sz="quarter" idx="12"/>
          </p:nvPr>
        </p:nvSpPr>
        <p:spPr/>
        <p:txBody>
          <a:bodyPr/>
          <a:lstStyle/>
          <a:p>
            <a:fld id="{D31C74E5-D250-4BDE-BB1A-AE4DD479CC99}" type="slidenum">
              <a:rPr lang="en-GB" smtClean="0"/>
              <a:t>16</a:t>
            </a:fld>
            <a:endParaRPr lang="en-GB"/>
          </a:p>
        </p:txBody>
      </p:sp>
      <p:sp>
        <p:nvSpPr>
          <p:cNvPr id="6" name="Google Shape;1669;p42">
            <a:extLst>
              <a:ext uri="{FF2B5EF4-FFF2-40B4-BE49-F238E27FC236}">
                <a16:creationId xmlns:a16="http://schemas.microsoft.com/office/drawing/2014/main" id="{3B1CE0F0-96EA-423F-9E5E-B19AE2E9F5C8}"/>
              </a:ext>
            </a:extLst>
          </p:cNvPr>
          <p:cNvSpPr txBox="1">
            <a:spLocks/>
          </p:cNvSpPr>
          <p:nvPr/>
        </p:nvSpPr>
        <p:spPr>
          <a:xfrm>
            <a:off x="5848739" y="535817"/>
            <a:ext cx="6017455" cy="5786365"/>
          </a:xfrm>
          <a:prstGeom prst="rect">
            <a:avLst/>
          </a:prstGeom>
          <a:ln>
            <a:solidFill>
              <a:schemeClr val="tx1"/>
            </a:solidFill>
          </a:ln>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50000"/>
              </a:lnSpc>
              <a:buNone/>
            </a:pPr>
            <a:r>
              <a:rPr lang="en-US" sz="1800" b="1" dirty="0">
                <a:latin typeface="Franklin Gothic Book" panose="020B0503020102020204" pitchFamily="34" charset="0"/>
              </a:rPr>
              <a:t>Building Scalable and Maintainable Systems</a:t>
            </a:r>
          </a:p>
          <a:p>
            <a:pPr marL="0" lvl="0" indent="0" algn="just">
              <a:lnSpc>
                <a:spcPct val="150000"/>
              </a:lnSpc>
              <a:buNone/>
            </a:pPr>
            <a:r>
              <a:rPr lang="en-US" sz="1800" dirty="0">
                <a:latin typeface="Franklin Gothic Book" panose="020B0503020102020204" pitchFamily="34" charset="0"/>
              </a:rPr>
              <a:t>Quick fixes and shortcuts can lead to technical debt, which causes long-term problems. A gritty backend developer thinks ahead, writes clean code, follows best practices, and invests in scalability, even when it's harder and more time-consuming than simply making things "work for now."</a:t>
            </a:r>
          </a:p>
          <a:p>
            <a:pPr marL="0" lvl="0" indent="0" algn="just">
              <a:lnSpc>
                <a:spcPct val="150000"/>
              </a:lnSpc>
              <a:buNone/>
            </a:pPr>
            <a:r>
              <a:rPr lang="en-US" sz="1800" dirty="0">
                <a:latin typeface="Franklin Gothic Book" panose="020B0503020102020204" pitchFamily="34" charset="0"/>
              </a:rPr>
              <a:t>Example: Instead of hardcoding configuration settings, a GRIT-driven developer sets up environment variables, config management, and secrets management to ensure a secure and scalable architecture.</a:t>
            </a:r>
          </a:p>
        </p:txBody>
      </p:sp>
    </p:spTree>
    <p:extLst>
      <p:ext uri="{BB962C8B-B14F-4D97-AF65-F5344CB8AC3E}">
        <p14:creationId xmlns:p14="http://schemas.microsoft.com/office/powerpoint/2010/main" val="3436812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Why GRIT Matters for Backend Developers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325805" y="535817"/>
            <a:ext cx="5496498" cy="5786365"/>
          </a:xfrm>
          <a:prstGeom prst="rect">
            <a:avLst/>
          </a:prstGeom>
          <a:ln>
            <a:solidFill>
              <a:schemeClr val="tx1"/>
            </a:solidFill>
          </a:ln>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50000"/>
              </a:lnSpc>
              <a:buNone/>
            </a:pPr>
            <a:r>
              <a:rPr lang="en-US" sz="1800" b="1" dirty="0">
                <a:latin typeface="Franklin Gothic Book" panose="020B0503020102020204" pitchFamily="34" charset="0"/>
              </a:rPr>
              <a:t>Staying Consistent Despite Setbacks</a:t>
            </a:r>
          </a:p>
          <a:p>
            <a:pPr marL="0" lvl="0" indent="0" algn="just">
              <a:lnSpc>
                <a:spcPct val="150000"/>
              </a:lnSpc>
              <a:buNone/>
            </a:pPr>
            <a:r>
              <a:rPr lang="en-US" sz="1800" dirty="0">
                <a:latin typeface="Franklin Gothic Book" panose="020B0503020102020204" pitchFamily="34" charset="0"/>
              </a:rPr>
              <a:t>Backend development is full of moments where things don’t work as expected. Whether it's a failing deployment, a rejected pull request, or a system that doesn’t perform as expected, GRIT is what keeps you going, iterating, and improving.</a:t>
            </a:r>
          </a:p>
          <a:p>
            <a:pPr marL="0" lvl="0" indent="0" algn="just">
              <a:lnSpc>
                <a:spcPct val="150000"/>
              </a:lnSpc>
              <a:buNone/>
            </a:pPr>
            <a:r>
              <a:rPr lang="en-US" sz="1800" dirty="0">
                <a:latin typeface="Franklin Gothic Book" panose="020B0503020102020204" pitchFamily="34" charset="0"/>
              </a:rPr>
              <a:t>Example: You spend weeks building a microservices-based architecture, only to realize that certain services should have been monoliths instead. A developer without GRIT might feel discouraged, while one with GRIT learns from the mistake, adapts, and refactors accordingly.</a:t>
            </a:r>
          </a:p>
        </p:txBody>
      </p:sp>
      <p:sp>
        <p:nvSpPr>
          <p:cNvPr id="3" name="Slide Number Placeholder 2">
            <a:extLst>
              <a:ext uri="{FF2B5EF4-FFF2-40B4-BE49-F238E27FC236}">
                <a16:creationId xmlns:a16="http://schemas.microsoft.com/office/drawing/2014/main" id="{A449A00F-67F6-49D6-9182-9ED4F7B60F36}"/>
              </a:ext>
            </a:extLst>
          </p:cNvPr>
          <p:cNvSpPr>
            <a:spLocks noGrp="1"/>
          </p:cNvSpPr>
          <p:nvPr>
            <p:ph type="sldNum" sz="quarter" idx="12"/>
          </p:nvPr>
        </p:nvSpPr>
        <p:spPr/>
        <p:txBody>
          <a:bodyPr/>
          <a:lstStyle/>
          <a:p>
            <a:fld id="{D31C74E5-D250-4BDE-BB1A-AE4DD479CC99}" type="slidenum">
              <a:rPr lang="en-GB" smtClean="0"/>
              <a:t>17</a:t>
            </a:fld>
            <a:endParaRPr lang="en-GB"/>
          </a:p>
        </p:txBody>
      </p:sp>
      <p:sp>
        <p:nvSpPr>
          <p:cNvPr id="6" name="Google Shape;1669;p42">
            <a:extLst>
              <a:ext uri="{FF2B5EF4-FFF2-40B4-BE49-F238E27FC236}">
                <a16:creationId xmlns:a16="http://schemas.microsoft.com/office/drawing/2014/main" id="{3B1CE0F0-96EA-423F-9E5E-B19AE2E9F5C8}"/>
              </a:ext>
            </a:extLst>
          </p:cNvPr>
          <p:cNvSpPr txBox="1">
            <a:spLocks/>
          </p:cNvSpPr>
          <p:nvPr/>
        </p:nvSpPr>
        <p:spPr>
          <a:xfrm>
            <a:off x="5848739" y="535817"/>
            <a:ext cx="6215441" cy="5786365"/>
          </a:xfrm>
          <a:prstGeom prst="rect">
            <a:avLst/>
          </a:prstGeom>
          <a:ln>
            <a:solidFill>
              <a:schemeClr val="tx1"/>
            </a:solidFill>
          </a:ln>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50000"/>
              </a:lnSpc>
              <a:buNone/>
            </a:pPr>
            <a:r>
              <a:rPr lang="en-US" sz="1800" b="1" dirty="0">
                <a:latin typeface="Franklin Gothic Book" panose="020B0503020102020204" pitchFamily="34" charset="0"/>
              </a:rPr>
              <a:t>How to Develop GRIT as a Backend Developer</a:t>
            </a:r>
          </a:p>
          <a:p>
            <a:pPr marL="0" lvl="0" indent="0" algn="just">
              <a:lnSpc>
                <a:spcPct val="150000"/>
              </a:lnSpc>
              <a:buNone/>
            </a:pPr>
            <a:r>
              <a:rPr lang="en-US" sz="1800" b="1" dirty="0">
                <a:latin typeface="Franklin Gothic Book" panose="020B0503020102020204" pitchFamily="34" charset="0"/>
              </a:rPr>
              <a:t>Adopt a Growth Mindset </a:t>
            </a:r>
            <a:r>
              <a:rPr lang="en-US" sz="1800" dirty="0">
                <a:latin typeface="Franklin Gothic Book" panose="020B0503020102020204" pitchFamily="34" charset="0"/>
              </a:rPr>
              <a:t>– Treat challenges as opportunities to learn, not roadblocks.</a:t>
            </a:r>
          </a:p>
          <a:p>
            <a:pPr marL="0" lvl="0" indent="0" algn="just">
              <a:lnSpc>
                <a:spcPct val="150000"/>
              </a:lnSpc>
              <a:buNone/>
            </a:pPr>
            <a:r>
              <a:rPr lang="en-US" sz="1800" b="1" dirty="0">
                <a:latin typeface="Franklin Gothic Book" panose="020B0503020102020204" pitchFamily="34" charset="0"/>
              </a:rPr>
              <a:t>Set Long-Term Goals </a:t>
            </a:r>
            <a:r>
              <a:rPr lang="en-US" sz="1800" dirty="0">
                <a:latin typeface="Franklin Gothic Book" panose="020B0503020102020204" pitchFamily="34" charset="0"/>
              </a:rPr>
              <a:t>– Don’t just aim to "fix bugs"; aim to become a high-level system architect or a database optimization expert.</a:t>
            </a:r>
          </a:p>
          <a:p>
            <a:pPr marL="0" lvl="0" indent="0" algn="just">
              <a:lnSpc>
                <a:spcPct val="150000"/>
              </a:lnSpc>
              <a:buNone/>
            </a:pPr>
            <a:r>
              <a:rPr lang="en-US" sz="1800" b="1" dirty="0">
                <a:latin typeface="Franklin Gothic Book" panose="020B0503020102020204" pitchFamily="34" charset="0"/>
              </a:rPr>
              <a:t>Embrace Failure </a:t>
            </a:r>
            <a:r>
              <a:rPr lang="en-US" sz="1800" dirty="0">
                <a:latin typeface="Franklin Gothic Book" panose="020B0503020102020204" pitchFamily="34" charset="0"/>
              </a:rPr>
              <a:t>– The best backend developers have broken production at least once. Learn from mistakes.</a:t>
            </a:r>
          </a:p>
          <a:p>
            <a:pPr marL="0" lvl="0" indent="0" algn="just">
              <a:lnSpc>
                <a:spcPct val="150000"/>
              </a:lnSpc>
              <a:buNone/>
            </a:pPr>
            <a:r>
              <a:rPr lang="en-US" sz="1800" b="1" dirty="0">
                <a:latin typeface="Franklin Gothic Book" panose="020B0503020102020204" pitchFamily="34" charset="0"/>
              </a:rPr>
              <a:t>Build Resilience </a:t>
            </a:r>
            <a:r>
              <a:rPr lang="en-US" sz="1800" dirty="0">
                <a:latin typeface="Franklin Gothic Book" panose="020B0503020102020204" pitchFamily="34" charset="0"/>
              </a:rPr>
              <a:t>– Stay consistent in your learning and problem-solving efforts.</a:t>
            </a:r>
          </a:p>
          <a:p>
            <a:pPr marL="0" lvl="0" indent="0" algn="just">
              <a:lnSpc>
                <a:spcPct val="150000"/>
              </a:lnSpc>
              <a:buNone/>
            </a:pPr>
            <a:r>
              <a:rPr lang="en-US" sz="1800" b="1" dirty="0">
                <a:latin typeface="Franklin Gothic Book" panose="020B0503020102020204" pitchFamily="34" charset="0"/>
              </a:rPr>
              <a:t>Stay Curious </a:t>
            </a:r>
            <a:r>
              <a:rPr lang="en-US" sz="1800" dirty="0">
                <a:latin typeface="Franklin Gothic Book" panose="020B0503020102020204" pitchFamily="34" charset="0"/>
              </a:rPr>
              <a:t>– Read documentation, experiment with new backend technologies, and always ask, </a:t>
            </a:r>
          </a:p>
        </p:txBody>
      </p:sp>
    </p:spTree>
    <p:extLst>
      <p:ext uri="{BB962C8B-B14F-4D97-AF65-F5344CB8AC3E}">
        <p14:creationId xmlns:p14="http://schemas.microsoft.com/office/powerpoint/2010/main" val="499542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Best Practices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786501" y="821502"/>
            <a:ext cx="9787288" cy="521499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200000"/>
              </a:lnSpc>
            </a:pPr>
            <a:r>
              <a:rPr lang="en-US" sz="2400" dirty="0">
                <a:latin typeface="Franklin Gothic Book" panose="020B0503020102020204" pitchFamily="34" charset="0"/>
              </a:rPr>
              <a:t>Follow SOLID principles (Single responsibility, Open/closed, </a:t>
            </a:r>
            <a:r>
              <a:rPr lang="en-US" sz="2400" dirty="0" err="1">
                <a:latin typeface="Franklin Gothic Book" panose="020B0503020102020204" pitchFamily="34" charset="0"/>
              </a:rPr>
              <a:t>Liskov</a:t>
            </a:r>
            <a:r>
              <a:rPr lang="en-US" sz="2400" dirty="0">
                <a:latin typeface="Franklin Gothic Book" panose="020B0503020102020204" pitchFamily="34" charset="0"/>
              </a:rPr>
              <a:t> substitution, Interface segregation, Dependency inversion)</a:t>
            </a:r>
          </a:p>
          <a:p>
            <a:pPr marL="342900" lvl="0" indent="-342900">
              <a:lnSpc>
                <a:spcPct val="200000"/>
              </a:lnSpc>
            </a:pPr>
            <a:r>
              <a:rPr lang="en-US" sz="2400" dirty="0">
                <a:latin typeface="Franklin Gothic Book" panose="020B0503020102020204" pitchFamily="34" charset="0"/>
              </a:rPr>
              <a:t>Use design patterns (MVC</a:t>
            </a:r>
            <a:r>
              <a:rPr lang="en-US" sz="2400">
                <a:latin typeface="Franklin Gothic Book" panose="020B0503020102020204" pitchFamily="34" charset="0"/>
              </a:rPr>
              <a:t>, Monolith, Microservices</a:t>
            </a:r>
            <a:r>
              <a:rPr lang="en-US" sz="2400" dirty="0">
                <a:latin typeface="Franklin Gothic Book" panose="020B0503020102020204" pitchFamily="34" charset="0"/>
              </a:rPr>
              <a:t>)</a:t>
            </a:r>
          </a:p>
          <a:p>
            <a:pPr marL="342900" lvl="0" indent="-342900">
              <a:lnSpc>
                <a:spcPct val="200000"/>
              </a:lnSpc>
            </a:pPr>
            <a:r>
              <a:rPr lang="en-US" sz="2400" dirty="0">
                <a:latin typeface="Franklin Gothic Book" panose="020B0503020102020204" pitchFamily="34" charset="0"/>
              </a:rPr>
              <a:t>Implement logging and monitoring</a:t>
            </a:r>
          </a:p>
          <a:p>
            <a:pPr marL="342900" lvl="0" indent="-342900">
              <a:lnSpc>
                <a:spcPct val="200000"/>
              </a:lnSpc>
            </a:pPr>
            <a:r>
              <a:rPr lang="en-US" sz="2400" dirty="0">
                <a:latin typeface="Franklin Gothic Book" panose="020B0503020102020204" pitchFamily="34" charset="0"/>
              </a:rPr>
              <a:t>Test thoroughly (unit, integration, and end-to-end)</a:t>
            </a:r>
          </a:p>
          <a:p>
            <a:pPr marL="342900" lvl="0" indent="-342900">
              <a:lnSpc>
                <a:spcPct val="200000"/>
              </a:lnSpc>
            </a:pPr>
            <a:r>
              <a:rPr lang="en-US" sz="2400" dirty="0">
                <a:latin typeface="Franklin Gothic Book" panose="020B0503020102020204" pitchFamily="34" charset="0"/>
              </a:rPr>
              <a:t>Document code and APIs</a:t>
            </a:r>
          </a:p>
        </p:txBody>
      </p:sp>
      <p:sp>
        <p:nvSpPr>
          <p:cNvPr id="4" name="Slide Number Placeholder 3">
            <a:extLst>
              <a:ext uri="{FF2B5EF4-FFF2-40B4-BE49-F238E27FC236}">
                <a16:creationId xmlns:a16="http://schemas.microsoft.com/office/drawing/2014/main" id="{F3EB77F8-7187-4EE9-A819-6C7377B11EAC}"/>
              </a:ext>
            </a:extLst>
          </p:cNvPr>
          <p:cNvSpPr>
            <a:spLocks noGrp="1"/>
          </p:cNvSpPr>
          <p:nvPr>
            <p:ph type="sldNum" sz="quarter" idx="12"/>
          </p:nvPr>
        </p:nvSpPr>
        <p:spPr/>
        <p:txBody>
          <a:bodyPr/>
          <a:lstStyle/>
          <a:p>
            <a:fld id="{D31C74E5-D250-4BDE-BB1A-AE4DD479CC99}" type="slidenum">
              <a:rPr lang="en-GB" smtClean="0"/>
              <a:t>18</a:t>
            </a:fld>
            <a:endParaRPr lang="en-GB"/>
          </a:p>
        </p:txBody>
      </p:sp>
    </p:spTree>
    <p:extLst>
      <p:ext uri="{BB962C8B-B14F-4D97-AF65-F5344CB8AC3E}">
        <p14:creationId xmlns:p14="http://schemas.microsoft.com/office/powerpoint/2010/main" val="4068869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Development Principles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669;p42">
            <a:extLst>
              <a:ext uri="{FF2B5EF4-FFF2-40B4-BE49-F238E27FC236}">
                <a16:creationId xmlns:a16="http://schemas.microsoft.com/office/drawing/2014/main" id="{F08819B0-E21B-4F8B-B4B3-BA48B5E2EF15}"/>
              </a:ext>
            </a:extLst>
          </p:cNvPr>
          <p:cNvSpPr txBox="1">
            <a:spLocks/>
          </p:cNvSpPr>
          <p:nvPr/>
        </p:nvSpPr>
        <p:spPr>
          <a:xfrm>
            <a:off x="786501" y="821502"/>
            <a:ext cx="9787288" cy="521499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200000"/>
              </a:lnSpc>
            </a:pPr>
            <a:r>
              <a:rPr lang="en-US" sz="2400" dirty="0">
                <a:latin typeface="Franklin Gothic Book" panose="020B0503020102020204" pitchFamily="34" charset="0"/>
              </a:rPr>
              <a:t>Separation of Concerns (SoC)</a:t>
            </a:r>
          </a:p>
          <a:p>
            <a:pPr marL="342900" lvl="0" indent="-342900">
              <a:lnSpc>
                <a:spcPct val="200000"/>
              </a:lnSpc>
            </a:pPr>
            <a:r>
              <a:rPr lang="en-US" sz="2400" dirty="0">
                <a:latin typeface="Franklin Gothic Book" panose="020B0503020102020204" pitchFamily="34" charset="0"/>
              </a:rPr>
              <a:t>Don't Repeat Yourself (DRY)</a:t>
            </a:r>
          </a:p>
          <a:p>
            <a:pPr marL="342900" lvl="0" indent="-342900">
              <a:lnSpc>
                <a:spcPct val="200000"/>
              </a:lnSpc>
            </a:pPr>
            <a:r>
              <a:rPr lang="en-US" sz="2400" dirty="0">
                <a:latin typeface="Franklin Gothic Book" panose="020B0503020102020204" pitchFamily="34" charset="0"/>
              </a:rPr>
              <a:t>Keep it Simple, Stupid (KISS)</a:t>
            </a:r>
          </a:p>
          <a:p>
            <a:pPr marL="342900" lvl="0" indent="-342900">
              <a:lnSpc>
                <a:spcPct val="200000"/>
              </a:lnSpc>
            </a:pPr>
            <a:r>
              <a:rPr lang="en-US" sz="2400" dirty="0">
                <a:latin typeface="Franklin Gothic Book" panose="020B0503020102020204" pitchFamily="34" charset="0"/>
              </a:rPr>
              <a:t>You </a:t>
            </a:r>
            <a:r>
              <a:rPr lang="en-US" sz="2400" dirty="0" err="1">
                <a:latin typeface="Franklin Gothic Book" panose="020B0503020102020204" pitchFamily="34" charset="0"/>
              </a:rPr>
              <a:t>Ain't</a:t>
            </a:r>
            <a:r>
              <a:rPr lang="en-US" sz="2400" dirty="0">
                <a:latin typeface="Franklin Gothic Book" panose="020B0503020102020204" pitchFamily="34" charset="0"/>
              </a:rPr>
              <a:t> </a:t>
            </a:r>
            <a:r>
              <a:rPr lang="en-US" sz="2400" dirty="0" err="1">
                <a:latin typeface="Franklin Gothic Book" panose="020B0503020102020204" pitchFamily="34" charset="0"/>
              </a:rPr>
              <a:t>Gonna</a:t>
            </a:r>
            <a:r>
              <a:rPr lang="en-US" sz="2400" dirty="0">
                <a:latin typeface="Franklin Gothic Book" panose="020B0503020102020204" pitchFamily="34" charset="0"/>
              </a:rPr>
              <a:t> Need It (YAGNI)</a:t>
            </a:r>
          </a:p>
          <a:p>
            <a:pPr marL="342900" lvl="0" indent="-342900">
              <a:lnSpc>
                <a:spcPct val="200000"/>
              </a:lnSpc>
            </a:pPr>
            <a:r>
              <a:rPr lang="en-US" sz="2400" dirty="0">
                <a:latin typeface="Franklin Gothic Book" panose="020B0503020102020204" pitchFamily="34" charset="0"/>
              </a:rPr>
              <a:t>Command-Query Separation (CQS)</a:t>
            </a:r>
          </a:p>
        </p:txBody>
      </p:sp>
      <p:sp>
        <p:nvSpPr>
          <p:cNvPr id="3" name="Slide Number Placeholder 2">
            <a:extLst>
              <a:ext uri="{FF2B5EF4-FFF2-40B4-BE49-F238E27FC236}">
                <a16:creationId xmlns:a16="http://schemas.microsoft.com/office/drawing/2014/main" id="{56D62DC4-0010-46C3-8910-4CB4ABF7A439}"/>
              </a:ext>
            </a:extLst>
          </p:cNvPr>
          <p:cNvSpPr>
            <a:spLocks noGrp="1"/>
          </p:cNvSpPr>
          <p:nvPr>
            <p:ph type="sldNum" sz="quarter" idx="12"/>
          </p:nvPr>
        </p:nvSpPr>
        <p:spPr/>
        <p:txBody>
          <a:bodyPr/>
          <a:lstStyle/>
          <a:p>
            <a:fld id="{D31C74E5-D250-4BDE-BB1A-AE4DD479CC99}" type="slidenum">
              <a:rPr lang="en-GB" smtClean="0"/>
              <a:t>19</a:t>
            </a:fld>
            <a:endParaRPr lang="en-GB"/>
          </a:p>
        </p:txBody>
      </p:sp>
    </p:spTree>
    <p:extLst>
      <p:ext uri="{BB962C8B-B14F-4D97-AF65-F5344CB8AC3E}">
        <p14:creationId xmlns:p14="http://schemas.microsoft.com/office/powerpoint/2010/main" val="4025210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484;p38">
            <a:extLst>
              <a:ext uri="{FF2B5EF4-FFF2-40B4-BE49-F238E27FC236}">
                <a16:creationId xmlns:a16="http://schemas.microsoft.com/office/drawing/2014/main" id="{825371F4-9DE3-4FDA-8C45-F2BD615809A9}"/>
              </a:ext>
            </a:extLst>
          </p:cNvPr>
          <p:cNvSpPr txBox="1">
            <a:spLocks/>
          </p:cNvSpPr>
          <p:nvPr/>
        </p:nvSpPr>
        <p:spPr>
          <a:xfrm>
            <a:off x="1419796" y="1941420"/>
            <a:ext cx="2374674" cy="152489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sz="6000" b="1" i="1" dirty="0">
                <a:latin typeface="Franklin Gothic Book" panose="020B0503020102020204" pitchFamily="34" charset="0"/>
              </a:rPr>
              <a:t>03</a:t>
            </a:r>
          </a:p>
        </p:txBody>
      </p:sp>
      <p:sp>
        <p:nvSpPr>
          <p:cNvPr id="20" name="Google Shape;1485;p38">
            <a:extLst>
              <a:ext uri="{FF2B5EF4-FFF2-40B4-BE49-F238E27FC236}">
                <a16:creationId xmlns:a16="http://schemas.microsoft.com/office/drawing/2014/main" id="{4708C9EA-391C-4C9D-AF3A-DBD573E05B8F}"/>
              </a:ext>
            </a:extLst>
          </p:cNvPr>
          <p:cNvSpPr txBox="1">
            <a:spLocks/>
          </p:cNvSpPr>
          <p:nvPr/>
        </p:nvSpPr>
        <p:spPr>
          <a:xfrm>
            <a:off x="1531765" y="4649651"/>
            <a:ext cx="7808180" cy="72979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dirty="0">
                <a:latin typeface="Franklin Gothic Book" panose="020B0503020102020204" pitchFamily="34" charset="0"/>
              </a:rPr>
              <a:t>Details of certain terms</a:t>
            </a:r>
          </a:p>
        </p:txBody>
      </p:sp>
      <p:sp>
        <p:nvSpPr>
          <p:cNvPr id="27" name="Google Shape;1492;p38">
            <a:extLst>
              <a:ext uri="{FF2B5EF4-FFF2-40B4-BE49-F238E27FC236}">
                <a16:creationId xmlns:a16="http://schemas.microsoft.com/office/drawing/2014/main" id="{0239F0AC-2853-4915-A33B-937AD78A5899}"/>
              </a:ext>
            </a:extLst>
          </p:cNvPr>
          <p:cNvSpPr txBox="1">
            <a:spLocks/>
          </p:cNvSpPr>
          <p:nvPr/>
        </p:nvSpPr>
        <p:spPr>
          <a:xfrm>
            <a:off x="1419796" y="3029147"/>
            <a:ext cx="7808180" cy="1352847"/>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6000" b="1" dirty="0">
                <a:latin typeface="Franklin Gothic Book" panose="020B0503020102020204" pitchFamily="34" charset="0"/>
              </a:rPr>
              <a:t>Breakdown of Terms</a:t>
            </a:r>
          </a:p>
        </p:txBody>
      </p:sp>
      <p:sp>
        <p:nvSpPr>
          <p:cNvPr id="73" name="Rectangle 72">
            <a:extLst>
              <a:ext uri="{FF2B5EF4-FFF2-40B4-BE49-F238E27FC236}">
                <a16:creationId xmlns:a16="http://schemas.microsoft.com/office/drawing/2014/main" id="{2CE69ED7-1F92-463B-AAC3-81AAF1EACFC3}"/>
              </a:ext>
            </a:extLst>
          </p:cNvPr>
          <p:cNvSpPr/>
          <p:nvPr/>
        </p:nvSpPr>
        <p:spPr>
          <a:xfrm>
            <a:off x="1531765" y="4405091"/>
            <a:ext cx="4610890" cy="98615"/>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AED3BB3C-B18C-45B8-A395-D376A08FB851}"/>
              </a:ext>
            </a:extLst>
          </p:cNvPr>
          <p:cNvSpPr>
            <a:spLocks noGrp="1"/>
          </p:cNvSpPr>
          <p:nvPr>
            <p:ph type="sldNum" sz="quarter" idx="12"/>
          </p:nvPr>
        </p:nvSpPr>
        <p:spPr/>
        <p:txBody>
          <a:bodyPr/>
          <a:lstStyle/>
          <a:p>
            <a:fld id="{D31C74E5-D250-4BDE-BB1A-AE4DD479CC99}" type="slidenum">
              <a:rPr lang="en-GB" smtClean="0"/>
              <a:t>20</a:t>
            </a:fld>
            <a:endParaRPr lang="en-GB"/>
          </a:p>
        </p:txBody>
      </p:sp>
    </p:spTree>
    <p:extLst>
      <p:ext uri="{BB962C8B-B14F-4D97-AF65-F5344CB8AC3E}">
        <p14:creationId xmlns:p14="http://schemas.microsoft.com/office/powerpoint/2010/main" val="1613924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SOLID Principles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4" name="Google Shape;1533;p39">
            <a:extLst>
              <a:ext uri="{FF2B5EF4-FFF2-40B4-BE49-F238E27FC236}">
                <a16:creationId xmlns:a16="http://schemas.microsoft.com/office/drawing/2014/main" id="{1FF61548-12C6-4E34-925A-D0D3269133CD}"/>
              </a:ext>
            </a:extLst>
          </p:cNvPr>
          <p:cNvSpPr txBox="1">
            <a:spLocks/>
          </p:cNvSpPr>
          <p:nvPr/>
        </p:nvSpPr>
        <p:spPr>
          <a:xfrm>
            <a:off x="552272" y="895853"/>
            <a:ext cx="3781155" cy="50893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GB" sz="2400" b="1" dirty="0">
                <a:latin typeface="Franklin Gothic Book" panose="020B0503020102020204" pitchFamily="34" charset="0"/>
              </a:rPr>
              <a:t>Single Responsibility Principle (SRP)</a:t>
            </a:r>
          </a:p>
          <a:p>
            <a:pPr marL="139700" indent="0"/>
            <a:r>
              <a:rPr lang="en-GB" sz="2400" dirty="0">
                <a:latin typeface="Franklin Gothic Book" panose="020B0503020102020204" pitchFamily="34" charset="0"/>
              </a:rPr>
              <a:t>Keep each module (class) focused on a single task or responsibility.</a:t>
            </a:r>
          </a:p>
          <a:p>
            <a:pPr marL="139700" indent="0"/>
            <a:r>
              <a:rPr lang="en-GB" sz="2400" dirty="0">
                <a:latin typeface="Franklin Gothic Book" panose="020B0503020102020204" pitchFamily="34" charset="0"/>
              </a:rPr>
              <a:t>E.g.: Instead of a User class handling authentication, profile management, and payment processing, break it down into separate classes.</a:t>
            </a:r>
          </a:p>
        </p:txBody>
      </p:sp>
      <p:sp>
        <p:nvSpPr>
          <p:cNvPr id="6" name="Google Shape;1533;p39">
            <a:extLst>
              <a:ext uri="{FF2B5EF4-FFF2-40B4-BE49-F238E27FC236}">
                <a16:creationId xmlns:a16="http://schemas.microsoft.com/office/drawing/2014/main" id="{F1B43399-63F6-43E4-93A8-4DAD1C051AFF}"/>
              </a:ext>
            </a:extLst>
          </p:cNvPr>
          <p:cNvSpPr txBox="1">
            <a:spLocks/>
          </p:cNvSpPr>
          <p:nvPr/>
        </p:nvSpPr>
        <p:spPr>
          <a:xfrm>
            <a:off x="4333428" y="895853"/>
            <a:ext cx="3281029" cy="48565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Open/Closed Principle (OCP)</a:t>
            </a:r>
          </a:p>
          <a:p>
            <a:pPr marL="139700" indent="0"/>
            <a:r>
              <a:rPr lang="en-US" sz="2400" dirty="0">
                <a:latin typeface="Franklin Gothic Book" panose="020B0503020102020204" pitchFamily="34" charset="0"/>
              </a:rPr>
              <a:t>Design classes to allow for new functionality without altering existing code.</a:t>
            </a:r>
          </a:p>
          <a:p>
            <a:pPr marL="139700" indent="0"/>
            <a:r>
              <a:rPr lang="en-US" sz="2400" dirty="0">
                <a:latin typeface="Franklin Gothic Book" panose="020B0503020102020204" pitchFamily="34" charset="0"/>
              </a:rPr>
              <a:t>E.g.: Use inheritance or interfaces to add new features without changing core classes.</a:t>
            </a:r>
          </a:p>
        </p:txBody>
      </p:sp>
      <p:sp>
        <p:nvSpPr>
          <p:cNvPr id="7" name="Google Shape;1533;p39">
            <a:extLst>
              <a:ext uri="{FF2B5EF4-FFF2-40B4-BE49-F238E27FC236}">
                <a16:creationId xmlns:a16="http://schemas.microsoft.com/office/drawing/2014/main" id="{E62C49E5-BD38-4F10-BC44-D680BEE83F12}"/>
              </a:ext>
            </a:extLst>
          </p:cNvPr>
          <p:cNvSpPr txBox="1">
            <a:spLocks/>
          </p:cNvSpPr>
          <p:nvPr/>
        </p:nvSpPr>
        <p:spPr>
          <a:xfrm>
            <a:off x="7858572" y="895854"/>
            <a:ext cx="3781156" cy="50893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err="1">
                <a:latin typeface="Franklin Gothic Book" panose="020B0503020102020204" pitchFamily="34" charset="0"/>
              </a:rPr>
              <a:t>Liskov</a:t>
            </a:r>
            <a:r>
              <a:rPr lang="en-US" sz="2400" b="1" dirty="0">
                <a:latin typeface="Franklin Gothic Book" panose="020B0503020102020204" pitchFamily="34" charset="0"/>
              </a:rPr>
              <a:t> Substitution Principle (LSP)</a:t>
            </a:r>
          </a:p>
          <a:p>
            <a:pPr marL="139700" indent="0"/>
            <a:r>
              <a:rPr lang="en-US" sz="2400" dirty="0">
                <a:latin typeface="Franklin Gothic Book" panose="020B0503020102020204" pitchFamily="34" charset="0"/>
              </a:rPr>
              <a:t>Ensure subclasses can replace parent classes without affecting program functionality.</a:t>
            </a:r>
          </a:p>
          <a:p>
            <a:pPr marL="139700" indent="0"/>
            <a:r>
              <a:rPr lang="en-US" sz="2400" dirty="0">
                <a:latin typeface="Franklin Gothic Book" panose="020B0503020102020204" pitchFamily="34" charset="0"/>
              </a:rPr>
              <a:t>E.g.: If a Bird class has a fly method, a Duck subclass should also be able to fly</a:t>
            </a:r>
          </a:p>
        </p:txBody>
      </p:sp>
      <p:sp>
        <p:nvSpPr>
          <p:cNvPr id="3" name="Slide Number Placeholder 2">
            <a:extLst>
              <a:ext uri="{FF2B5EF4-FFF2-40B4-BE49-F238E27FC236}">
                <a16:creationId xmlns:a16="http://schemas.microsoft.com/office/drawing/2014/main" id="{1B67B0B3-1CBE-42AD-87DA-A46AAA2B4463}"/>
              </a:ext>
            </a:extLst>
          </p:cNvPr>
          <p:cNvSpPr>
            <a:spLocks noGrp="1"/>
          </p:cNvSpPr>
          <p:nvPr>
            <p:ph type="sldNum" sz="quarter" idx="12"/>
          </p:nvPr>
        </p:nvSpPr>
        <p:spPr/>
        <p:txBody>
          <a:bodyPr/>
          <a:lstStyle/>
          <a:p>
            <a:fld id="{D31C74E5-D250-4BDE-BB1A-AE4DD479CC99}" type="slidenum">
              <a:rPr lang="en-GB" smtClean="0"/>
              <a:t>21</a:t>
            </a:fld>
            <a:endParaRPr lang="en-GB"/>
          </a:p>
        </p:txBody>
      </p:sp>
    </p:spTree>
    <p:extLst>
      <p:ext uri="{BB962C8B-B14F-4D97-AF65-F5344CB8AC3E}">
        <p14:creationId xmlns:p14="http://schemas.microsoft.com/office/powerpoint/2010/main" val="1205652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SOLID Principles – Cont’d</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8" name="Google Shape;1533;p39">
            <a:extLst>
              <a:ext uri="{FF2B5EF4-FFF2-40B4-BE49-F238E27FC236}">
                <a16:creationId xmlns:a16="http://schemas.microsoft.com/office/drawing/2014/main" id="{0BE5FDE3-F5DA-46E5-B7F7-3C61A5DB46CA}"/>
              </a:ext>
            </a:extLst>
          </p:cNvPr>
          <p:cNvSpPr txBox="1">
            <a:spLocks/>
          </p:cNvSpPr>
          <p:nvPr/>
        </p:nvSpPr>
        <p:spPr>
          <a:xfrm>
            <a:off x="720000" y="930070"/>
            <a:ext cx="5065658" cy="42553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Interface Segregation Principle (ISP)</a:t>
            </a:r>
          </a:p>
          <a:p>
            <a:pPr marL="139700" indent="0"/>
            <a:r>
              <a:rPr lang="en-US" sz="2400" dirty="0">
                <a:latin typeface="Franklin Gothic Book" panose="020B0503020102020204" pitchFamily="34" charset="0"/>
              </a:rPr>
              <a:t>Break large interfaces into smaller, more focused ones.</a:t>
            </a:r>
          </a:p>
          <a:p>
            <a:pPr marL="139700" indent="0"/>
            <a:r>
              <a:rPr lang="en-US" sz="2400" dirty="0">
                <a:latin typeface="Franklin Gothic Book" panose="020B0503020102020204" pitchFamily="34" charset="0"/>
              </a:rPr>
              <a:t>E.g.: Instead of a single </a:t>
            </a:r>
            <a:r>
              <a:rPr lang="en-US" sz="2400" dirty="0" err="1">
                <a:latin typeface="Franklin Gothic Book" panose="020B0503020102020204" pitchFamily="34" charset="0"/>
              </a:rPr>
              <a:t>PaymentInterface</a:t>
            </a:r>
            <a:r>
              <a:rPr lang="en-US" sz="2400" dirty="0">
                <a:latin typeface="Franklin Gothic Book" panose="020B0503020102020204" pitchFamily="34" charset="0"/>
              </a:rPr>
              <a:t>, create separate interfaces for </a:t>
            </a:r>
            <a:r>
              <a:rPr lang="en-US" sz="2400" dirty="0" err="1">
                <a:latin typeface="Franklin Gothic Book" panose="020B0503020102020204" pitchFamily="34" charset="0"/>
              </a:rPr>
              <a:t>CreditCardPayment</a:t>
            </a:r>
            <a:r>
              <a:rPr lang="en-US" sz="2400" dirty="0">
                <a:latin typeface="Franklin Gothic Book" panose="020B0503020102020204" pitchFamily="34" charset="0"/>
              </a:rPr>
              <a:t> and </a:t>
            </a:r>
            <a:r>
              <a:rPr lang="en-US" sz="2400" dirty="0" err="1">
                <a:latin typeface="Franklin Gothic Book" panose="020B0503020102020204" pitchFamily="34" charset="0"/>
              </a:rPr>
              <a:t>PayPalPayment</a:t>
            </a:r>
            <a:r>
              <a:rPr lang="en-US" sz="2400" dirty="0">
                <a:latin typeface="Franklin Gothic Book" panose="020B0503020102020204" pitchFamily="34" charset="0"/>
              </a:rPr>
              <a:t>.</a:t>
            </a:r>
          </a:p>
        </p:txBody>
      </p:sp>
      <p:sp>
        <p:nvSpPr>
          <p:cNvPr id="9" name="Google Shape;1533;p39">
            <a:extLst>
              <a:ext uri="{FF2B5EF4-FFF2-40B4-BE49-F238E27FC236}">
                <a16:creationId xmlns:a16="http://schemas.microsoft.com/office/drawing/2014/main" id="{A1131081-687D-4C9B-A09B-B15E299BB600}"/>
              </a:ext>
            </a:extLst>
          </p:cNvPr>
          <p:cNvSpPr txBox="1">
            <a:spLocks/>
          </p:cNvSpPr>
          <p:nvPr/>
        </p:nvSpPr>
        <p:spPr>
          <a:xfrm>
            <a:off x="6096000" y="930070"/>
            <a:ext cx="4740405" cy="42553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Dependency Inversion Principle (DIP)</a:t>
            </a:r>
            <a:r>
              <a:rPr lang="en-US" sz="2400" dirty="0">
                <a:latin typeface="Franklin Gothic Book" panose="020B0503020102020204" pitchFamily="34" charset="0"/>
              </a:rPr>
              <a:t> - High-level modules should not depend on low-level modules, but both should depend on abstractions. </a:t>
            </a:r>
          </a:p>
          <a:p>
            <a:pPr marL="139700" indent="0"/>
            <a:r>
              <a:rPr lang="en-US" sz="2400" dirty="0">
                <a:latin typeface="Franklin Gothic Book" panose="020B0503020102020204" pitchFamily="34" charset="0"/>
              </a:rPr>
              <a:t>E.g.: Instead of a </a:t>
            </a:r>
            <a:r>
              <a:rPr lang="en-US" sz="2400" dirty="0" err="1">
                <a:latin typeface="Franklin Gothic Book" panose="020B0503020102020204" pitchFamily="34" charset="0"/>
              </a:rPr>
              <a:t>PaymentProcessor</a:t>
            </a:r>
            <a:r>
              <a:rPr lang="en-US" sz="2400" dirty="0">
                <a:latin typeface="Franklin Gothic Book" panose="020B0503020102020204" pitchFamily="34" charset="0"/>
              </a:rPr>
              <a:t> depending on a specific payment gateway, use an abstract </a:t>
            </a:r>
            <a:r>
              <a:rPr lang="en-US" sz="2400" dirty="0" err="1">
                <a:latin typeface="Franklin Gothic Book" panose="020B0503020102020204" pitchFamily="34" charset="0"/>
              </a:rPr>
              <a:t>PaymentGateway</a:t>
            </a:r>
            <a:r>
              <a:rPr lang="en-US" sz="2400" dirty="0">
                <a:latin typeface="Franklin Gothic Book" panose="020B0503020102020204" pitchFamily="34" charset="0"/>
              </a:rPr>
              <a:t> interface.</a:t>
            </a:r>
          </a:p>
        </p:txBody>
      </p:sp>
      <p:sp>
        <p:nvSpPr>
          <p:cNvPr id="3" name="Slide Number Placeholder 2">
            <a:extLst>
              <a:ext uri="{FF2B5EF4-FFF2-40B4-BE49-F238E27FC236}">
                <a16:creationId xmlns:a16="http://schemas.microsoft.com/office/drawing/2014/main" id="{905B931E-CC79-4BFB-AD8F-48178E03D82B}"/>
              </a:ext>
            </a:extLst>
          </p:cNvPr>
          <p:cNvSpPr>
            <a:spLocks noGrp="1"/>
          </p:cNvSpPr>
          <p:nvPr>
            <p:ph type="sldNum" sz="quarter" idx="12"/>
          </p:nvPr>
        </p:nvSpPr>
        <p:spPr/>
        <p:txBody>
          <a:bodyPr/>
          <a:lstStyle/>
          <a:p>
            <a:fld id="{D31C74E5-D250-4BDE-BB1A-AE4DD479CC99}" type="slidenum">
              <a:rPr lang="en-GB" smtClean="0"/>
              <a:t>22</a:t>
            </a:fld>
            <a:endParaRPr lang="en-GB"/>
          </a:p>
        </p:txBody>
      </p:sp>
    </p:spTree>
    <p:extLst>
      <p:ext uri="{BB962C8B-B14F-4D97-AF65-F5344CB8AC3E}">
        <p14:creationId xmlns:p14="http://schemas.microsoft.com/office/powerpoint/2010/main" val="3693981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Design Patterns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8" name="Google Shape;1533;p39">
            <a:extLst>
              <a:ext uri="{FF2B5EF4-FFF2-40B4-BE49-F238E27FC236}">
                <a16:creationId xmlns:a16="http://schemas.microsoft.com/office/drawing/2014/main" id="{0BE5FDE3-F5DA-46E5-B7F7-3C61A5DB46CA}"/>
              </a:ext>
            </a:extLst>
          </p:cNvPr>
          <p:cNvSpPr txBox="1">
            <a:spLocks/>
          </p:cNvSpPr>
          <p:nvPr/>
        </p:nvSpPr>
        <p:spPr>
          <a:xfrm>
            <a:off x="720000" y="930070"/>
            <a:ext cx="5065658" cy="42553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Model-View-Controller (MVC)</a:t>
            </a:r>
          </a:p>
          <a:p>
            <a:pPr marL="139700" indent="0"/>
            <a:r>
              <a:rPr lang="en-US" sz="2400" dirty="0">
                <a:latin typeface="Franklin Gothic Book" panose="020B0503020102020204" pitchFamily="34" charset="0"/>
              </a:rPr>
              <a:t>Separate application logic into three interconnected components - Model (data), View (UI), and Controller (business logic) work together.</a:t>
            </a:r>
          </a:p>
          <a:p>
            <a:pPr marL="139700" indent="0"/>
            <a:endParaRPr lang="en-US" sz="2400" dirty="0">
              <a:latin typeface="Franklin Gothic Book" panose="020B0503020102020204" pitchFamily="34" charset="0"/>
            </a:endParaRPr>
          </a:p>
          <a:p>
            <a:pPr marL="139700" indent="0"/>
            <a:r>
              <a:rPr lang="en-US" sz="2400" dirty="0">
                <a:latin typeface="Franklin Gothic Book" panose="020B0503020102020204" pitchFamily="34" charset="0"/>
              </a:rPr>
              <a:t>E.g., A web app's User model, Profile view, and </a:t>
            </a:r>
            <a:r>
              <a:rPr lang="en-US" sz="2400" dirty="0" err="1">
                <a:latin typeface="Franklin Gothic Book" panose="020B0503020102020204" pitchFamily="34" charset="0"/>
              </a:rPr>
              <a:t>UserController</a:t>
            </a:r>
            <a:r>
              <a:rPr lang="en-US" sz="2400" dirty="0">
                <a:latin typeface="Franklin Gothic Book" panose="020B0503020102020204" pitchFamily="34" charset="0"/>
              </a:rPr>
              <a:t>.</a:t>
            </a:r>
          </a:p>
        </p:txBody>
      </p:sp>
      <p:sp>
        <p:nvSpPr>
          <p:cNvPr id="9" name="Google Shape;1533;p39">
            <a:extLst>
              <a:ext uri="{FF2B5EF4-FFF2-40B4-BE49-F238E27FC236}">
                <a16:creationId xmlns:a16="http://schemas.microsoft.com/office/drawing/2014/main" id="{A1131081-687D-4C9B-A09B-B15E299BB600}"/>
              </a:ext>
            </a:extLst>
          </p:cNvPr>
          <p:cNvSpPr txBox="1">
            <a:spLocks/>
          </p:cNvSpPr>
          <p:nvPr/>
        </p:nvSpPr>
        <p:spPr>
          <a:xfrm>
            <a:off x="6096000" y="930070"/>
            <a:ext cx="4740405" cy="42553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Microservices</a:t>
            </a:r>
          </a:p>
          <a:p>
            <a:pPr marL="139700" indent="0"/>
            <a:r>
              <a:rPr lang="en-US" sz="2400" dirty="0">
                <a:latin typeface="Franklin Gothic Book" panose="020B0503020102020204" pitchFamily="34" charset="0"/>
              </a:rPr>
              <a:t>Break down monolithic applications into smaller, independent services. Each service handles a specific task or domain.</a:t>
            </a:r>
          </a:p>
          <a:p>
            <a:pPr marL="139700" indent="0"/>
            <a:endParaRPr lang="en-US" sz="2400" dirty="0">
              <a:latin typeface="Franklin Gothic Book" panose="020B0503020102020204" pitchFamily="34" charset="0"/>
            </a:endParaRPr>
          </a:p>
          <a:p>
            <a:pPr marL="139700" indent="0"/>
            <a:r>
              <a:rPr lang="en-US" sz="2400" dirty="0">
                <a:latin typeface="Franklin Gothic Book" panose="020B0503020102020204" pitchFamily="34" charset="0"/>
              </a:rPr>
              <a:t>E.g., Separate services for authentication, payment processing, and order management.</a:t>
            </a:r>
          </a:p>
        </p:txBody>
      </p:sp>
      <p:sp>
        <p:nvSpPr>
          <p:cNvPr id="3" name="Slide Number Placeholder 2">
            <a:extLst>
              <a:ext uri="{FF2B5EF4-FFF2-40B4-BE49-F238E27FC236}">
                <a16:creationId xmlns:a16="http://schemas.microsoft.com/office/drawing/2014/main" id="{ABA48332-F50A-48EF-9603-B7773E88C706}"/>
              </a:ext>
            </a:extLst>
          </p:cNvPr>
          <p:cNvSpPr>
            <a:spLocks noGrp="1"/>
          </p:cNvSpPr>
          <p:nvPr>
            <p:ph type="sldNum" sz="quarter" idx="12"/>
          </p:nvPr>
        </p:nvSpPr>
        <p:spPr/>
        <p:txBody>
          <a:bodyPr/>
          <a:lstStyle/>
          <a:p>
            <a:fld id="{D31C74E5-D250-4BDE-BB1A-AE4DD479CC99}" type="slidenum">
              <a:rPr lang="en-GB" smtClean="0"/>
              <a:t>23</a:t>
            </a:fld>
            <a:endParaRPr lang="en-GB"/>
          </a:p>
        </p:txBody>
      </p:sp>
    </p:spTree>
    <p:extLst>
      <p:ext uri="{BB962C8B-B14F-4D97-AF65-F5344CB8AC3E}">
        <p14:creationId xmlns:p14="http://schemas.microsoft.com/office/powerpoint/2010/main" val="575709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Best Practices</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4" name="Google Shape;1533;p39">
            <a:extLst>
              <a:ext uri="{FF2B5EF4-FFF2-40B4-BE49-F238E27FC236}">
                <a16:creationId xmlns:a16="http://schemas.microsoft.com/office/drawing/2014/main" id="{1FF61548-12C6-4E34-925A-D0D3269133CD}"/>
              </a:ext>
            </a:extLst>
          </p:cNvPr>
          <p:cNvSpPr txBox="1">
            <a:spLocks/>
          </p:cNvSpPr>
          <p:nvPr/>
        </p:nvSpPr>
        <p:spPr>
          <a:xfrm>
            <a:off x="552272" y="895853"/>
            <a:ext cx="3781155" cy="50893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Don't Repeat Yourself (DRY)</a:t>
            </a:r>
          </a:p>
          <a:p>
            <a:pPr marL="139700" indent="0"/>
            <a:r>
              <a:rPr lang="en-US" sz="2400" dirty="0">
                <a:latin typeface="Franklin Gothic Book" panose="020B0503020102020204" pitchFamily="34" charset="0"/>
              </a:rPr>
              <a:t>Avoid duplicating code or logic.</a:t>
            </a:r>
          </a:p>
          <a:p>
            <a:pPr marL="139700" indent="0"/>
            <a:r>
              <a:rPr lang="en-US" sz="2400" dirty="0">
                <a:latin typeface="Franklin Gothic Book" panose="020B0503020102020204" pitchFamily="34" charset="0"/>
              </a:rPr>
              <a:t>E.g. Instead of copying a validation function, create a reusable Validation class.</a:t>
            </a:r>
          </a:p>
        </p:txBody>
      </p:sp>
      <p:sp>
        <p:nvSpPr>
          <p:cNvPr id="6" name="Google Shape;1533;p39">
            <a:extLst>
              <a:ext uri="{FF2B5EF4-FFF2-40B4-BE49-F238E27FC236}">
                <a16:creationId xmlns:a16="http://schemas.microsoft.com/office/drawing/2014/main" id="{F1B43399-63F6-43E4-93A8-4DAD1C051AFF}"/>
              </a:ext>
            </a:extLst>
          </p:cNvPr>
          <p:cNvSpPr txBox="1">
            <a:spLocks/>
          </p:cNvSpPr>
          <p:nvPr/>
        </p:nvSpPr>
        <p:spPr>
          <a:xfrm>
            <a:off x="4206240" y="895853"/>
            <a:ext cx="3408217" cy="48565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Keep it Simple, Stupid (KISS)</a:t>
            </a:r>
          </a:p>
          <a:p>
            <a:pPr marL="139700" indent="0"/>
            <a:r>
              <a:rPr lang="en-US" sz="2400" dirty="0">
                <a:latin typeface="Franklin Gothic Book" panose="020B0503020102020204" pitchFamily="34" charset="0"/>
              </a:rPr>
              <a:t>Favor simplicity over complexity and avoid over-engineering.</a:t>
            </a:r>
          </a:p>
          <a:p>
            <a:pPr marL="139700" indent="0"/>
            <a:endParaRPr lang="en-US" sz="2400" dirty="0">
              <a:latin typeface="Franklin Gothic Book" panose="020B0503020102020204" pitchFamily="34" charset="0"/>
            </a:endParaRPr>
          </a:p>
          <a:p>
            <a:pPr marL="139700" indent="0"/>
            <a:r>
              <a:rPr lang="en-US" sz="2400" dirty="0">
                <a:latin typeface="Franklin Gothic Book" panose="020B0503020102020204" pitchFamily="34" charset="0"/>
              </a:rPr>
              <a:t>E.g. Use a simple foreach loop instead of a complex recursive function.</a:t>
            </a:r>
          </a:p>
        </p:txBody>
      </p:sp>
      <p:sp>
        <p:nvSpPr>
          <p:cNvPr id="7" name="Google Shape;1533;p39">
            <a:extLst>
              <a:ext uri="{FF2B5EF4-FFF2-40B4-BE49-F238E27FC236}">
                <a16:creationId xmlns:a16="http://schemas.microsoft.com/office/drawing/2014/main" id="{E62C49E5-BD38-4F10-BC44-D680BEE83F12}"/>
              </a:ext>
            </a:extLst>
          </p:cNvPr>
          <p:cNvSpPr txBox="1">
            <a:spLocks/>
          </p:cNvSpPr>
          <p:nvPr/>
        </p:nvSpPr>
        <p:spPr>
          <a:xfrm>
            <a:off x="7614457" y="895854"/>
            <a:ext cx="4025271" cy="50893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You </a:t>
            </a:r>
            <a:r>
              <a:rPr lang="en-US" sz="2400" b="1" dirty="0" err="1">
                <a:latin typeface="Franklin Gothic Book" panose="020B0503020102020204" pitchFamily="34" charset="0"/>
              </a:rPr>
              <a:t>Ain't</a:t>
            </a:r>
            <a:r>
              <a:rPr lang="en-US" sz="2400" b="1" dirty="0">
                <a:latin typeface="Franklin Gothic Book" panose="020B0503020102020204" pitchFamily="34" charset="0"/>
              </a:rPr>
              <a:t> </a:t>
            </a:r>
            <a:r>
              <a:rPr lang="en-US" sz="2400" b="1" dirty="0" err="1">
                <a:latin typeface="Franklin Gothic Book" panose="020B0503020102020204" pitchFamily="34" charset="0"/>
              </a:rPr>
              <a:t>Gonna</a:t>
            </a:r>
            <a:r>
              <a:rPr lang="en-US" sz="2400" b="1" dirty="0">
                <a:latin typeface="Franklin Gothic Book" panose="020B0503020102020204" pitchFamily="34" charset="0"/>
              </a:rPr>
              <a:t> Need It (YAGNI)</a:t>
            </a:r>
          </a:p>
          <a:p>
            <a:pPr marL="139700" indent="0"/>
            <a:r>
              <a:rPr lang="en-US" sz="2400" dirty="0">
                <a:latin typeface="Franklin Gothic Book" panose="020B0503020102020204" pitchFamily="34" charset="0"/>
              </a:rPr>
              <a:t>Only implement features or functionality when needed. Avoid premature optimization or unnecessary features.</a:t>
            </a:r>
          </a:p>
          <a:p>
            <a:pPr marL="139700" indent="0"/>
            <a:endParaRPr lang="en-US" sz="2400" dirty="0">
              <a:latin typeface="Franklin Gothic Book" panose="020B0503020102020204" pitchFamily="34" charset="0"/>
            </a:endParaRPr>
          </a:p>
          <a:p>
            <a:pPr marL="139700" indent="0"/>
            <a:r>
              <a:rPr lang="en-US" sz="2400" dirty="0">
                <a:latin typeface="Franklin Gothic Book" panose="020B0503020102020204" pitchFamily="34" charset="0"/>
              </a:rPr>
              <a:t>E.g., Don't implement advanced search functionality until users request it.</a:t>
            </a:r>
          </a:p>
        </p:txBody>
      </p:sp>
      <p:sp>
        <p:nvSpPr>
          <p:cNvPr id="3" name="Slide Number Placeholder 2">
            <a:extLst>
              <a:ext uri="{FF2B5EF4-FFF2-40B4-BE49-F238E27FC236}">
                <a16:creationId xmlns:a16="http://schemas.microsoft.com/office/drawing/2014/main" id="{83C0B738-D3E3-4BEC-9E58-D507FDEE2A4A}"/>
              </a:ext>
            </a:extLst>
          </p:cNvPr>
          <p:cNvSpPr>
            <a:spLocks noGrp="1"/>
          </p:cNvSpPr>
          <p:nvPr>
            <p:ph type="sldNum" sz="quarter" idx="12"/>
          </p:nvPr>
        </p:nvSpPr>
        <p:spPr/>
        <p:txBody>
          <a:bodyPr/>
          <a:lstStyle/>
          <a:p>
            <a:fld id="{D31C74E5-D250-4BDE-BB1A-AE4DD479CC99}" type="slidenum">
              <a:rPr lang="en-GB" smtClean="0"/>
              <a:t>24</a:t>
            </a:fld>
            <a:endParaRPr lang="en-GB"/>
          </a:p>
        </p:txBody>
      </p:sp>
    </p:spTree>
    <p:extLst>
      <p:ext uri="{BB962C8B-B14F-4D97-AF65-F5344CB8AC3E}">
        <p14:creationId xmlns:p14="http://schemas.microsoft.com/office/powerpoint/2010/main" val="1218737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Best Practices – Cont’d</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8" name="Google Shape;1533;p39">
            <a:extLst>
              <a:ext uri="{FF2B5EF4-FFF2-40B4-BE49-F238E27FC236}">
                <a16:creationId xmlns:a16="http://schemas.microsoft.com/office/drawing/2014/main" id="{0BE5FDE3-F5DA-46E5-B7F7-3C61A5DB46CA}"/>
              </a:ext>
            </a:extLst>
          </p:cNvPr>
          <p:cNvSpPr txBox="1">
            <a:spLocks/>
          </p:cNvSpPr>
          <p:nvPr/>
        </p:nvSpPr>
        <p:spPr>
          <a:xfrm>
            <a:off x="720000" y="930070"/>
            <a:ext cx="5065658" cy="42553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Command-Query Separation (CQS)</a:t>
            </a:r>
          </a:p>
          <a:p>
            <a:pPr marL="139700" indent="0"/>
            <a:r>
              <a:rPr lang="en-US" sz="2400" dirty="0">
                <a:latin typeface="Franklin Gothic Book" panose="020B0503020102020204" pitchFamily="34" charset="0"/>
              </a:rPr>
              <a:t>Separate commands (actions) from queries (data retrieval) preferably by using distinct methods.</a:t>
            </a:r>
          </a:p>
          <a:p>
            <a:pPr marL="139700" indent="0"/>
            <a:endParaRPr lang="en-US" sz="2400" dirty="0">
              <a:latin typeface="Franklin Gothic Book" panose="020B0503020102020204" pitchFamily="34" charset="0"/>
            </a:endParaRPr>
          </a:p>
          <a:p>
            <a:pPr marL="139700" indent="0"/>
            <a:r>
              <a:rPr lang="en-US" sz="2400" dirty="0">
                <a:latin typeface="Franklin Gothic Book" panose="020B0503020102020204" pitchFamily="34" charset="0"/>
              </a:rPr>
              <a:t>E.g., Use separate methods for updating user data (command) and retrieving user data (query).</a:t>
            </a:r>
          </a:p>
        </p:txBody>
      </p:sp>
      <p:sp>
        <p:nvSpPr>
          <p:cNvPr id="9" name="Google Shape;1533;p39">
            <a:extLst>
              <a:ext uri="{FF2B5EF4-FFF2-40B4-BE49-F238E27FC236}">
                <a16:creationId xmlns:a16="http://schemas.microsoft.com/office/drawing/2014/main" id="{A1131081-687D-4C9B-A09B-B15E299BB600}"/>
              </a:ext>
            </a:extLst>
          </p:cNvPr>
          <p:cNvSpPr txBox="1">
            <a:spLocks/>
          </p:cNvSpPr>
          <p:nvPr/>
        </p:nvSpPr>
        <p:spPr>
          <a:xfrm>
            <a:off x="6096000" y="930070"/>
            <a:ext cx="4740405" cy="42553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b="1" dirty="0">
                <a:latin typeface="Franklin Gothic Book" panose="020B0503020102020204" pitchFamily="34" charset="0"/>
              </a:rPr>
              <a:t>Separation of Concerns (SoC)</a:t>
            </a:r>
          </a:p>
          <a:p>
            <a:pPr marL="139700" indent="0"/>
            <a:r>
              <a:rPr lang="en-US" sz="2400" dirty="0">
                <a:latin typeface="Franklin Gothic Book" panose="020B0503020102020204" pitchFamily="34" charset="0"/>
              </a:rPr>
              <a:t>Divide application logic into distinct, independent components. Separate concerns like data storage, business logic, and presentation.</a:t>
            </a:r>
          </a:p>
          <a:p>
            <a:pPr marL="139700" indent="0"/>
            <a:endParaRPr lang="en-US" sz="2400" dirty="0">
              <a:latin typeface="Franklin Gothic Book" panose="020B0503020102020204" pitchFamily="34" charset="0"/>
            </a:endParaRPr>
          </a:p>
          <a:p>
            <a:pPr marL="139700" indent="0"/>
            <a:r>
              <a:rPr lang="en-US" sz="2400" dirty="0">
                <a:latin typeface="Franklin Gothic Book" panose="020B0503020102020204" pitchFamily="34" charset="0"/>
              </a:rPr>
              <a:t>E.g., Use separate classes or modules for database interactions, validation, and UI rendering.</a:t>
            </a:r>
          </a:p>
        </p:txBody>
      </p:sp>
      <p:sp>
        <p:nvSpPr>
          <p:cNvPr id="3" name="Slide Number Placeholder 2">
            <a:extLst>
              <a:ext uri="{FF2B5EF4-FFF2-40B4-BE49-F238E27FC236}">
                <a16:creationId xmlns:a16="http://schemas.microsoft.com/office/drawing/2014/main" id="{3F714867-B492-4BB7-AD91-18F45AADC328}"/>
              </a:ext>
            </a:extLst>
          </p:cNvPr>
          <p:cNvSpPr>
            <a:spLocks noGrp="1"/>
          </p:cNvSpPr>
          <p:nvPr>
            <p:ph type="sldNum" sz="quarter" idx="12"/>
          </p:nvPr>
        </p:nvSpPr>
        <p:spPr/>
        <p:txBody>
          <a:bodyPr/>
          <a:lstStyle/>
          <a:p>
            <a:fld id="{D31C74E5-D250-4BDE-BB1A-AE4DD479CC99}" type="slidenum">
              <a:rPr lang="en-GB" smtClean="0"/>
              <a:t>25</a:t>
            </a:fld>
            <a:endParaRPr lang="en-GB"/>
          </a:p>
        </p:txBody>
      </p:sp>
    </p:spTree>
    <p:extLst>
      <p:ext uri="{BB962C8B-B14F-4D97-AF65-F5344CB8AC3E}">
        <p14:creationId xmlns:p14="http://schemas.microsoft.com/office/powerpoint/2010/main" val="1384214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484;p38">
            <a:extLst>
              <a:ext uri="{FF2B5EF4-FFF2-40B4-BE49-F238E27FC236}">
                <a16:creationId xmlns:a16="http://schemas.microsoft.com/office/drawing/2014/main" id="{825371F4-9DE3-4FDA-8C45-F2BD615809A9}"/>
              </a:ext>
            </a:extLst>
          </p:cNvPr>
          <p:cNvSpPr txBox="1">
            <a:spLocks/>
          </p:cNvSpPr>
          <p:nvPr/>
        </p:nvSpPr>
        <p:spPr>
          <a:xfrm>
            <a:off x="1419796" y="1941420"/>
            <a:ext cx="2374674" cy="152489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sz="6000" b="1" i="1" dirty="0">
                <a:latin typeface="Franklin Gothic Book" panose="020B0503020102020204" pitchFamily="34" charset="0"/>
              </a:rPr>
              <a:t>04</a:t>
            </a:r>
          </a:p>
        </p:txBody>
      </p:sp>
      <p:sp>
        <p:nvSpPr>
          <p:cNvPr id="20" name="Google Shape;1485;p38">
            <a:extLst>
              <a:ext uri="{FF2B5EF4-FFF2-40B4-BE49-F238E27FC236}">
                <a16:creationId xmlns:a16="http://schemas.microsoft.com/office/drawing/2014/main" id="{4708C9EA-391C-4C9D-AF3A-DBD573E05B8F}"/>
              </a:ext>
            </a:extLst>
          </p:cNvPr>
          <p:cNvSpPr txBox="1">
            <a:spLocks/>
          </p:cNvSpPr>
          <p:nvPr/>
        </p:nvSpPr>
        <p:spPr>
          <a:xfrm>
            <a:off x="1531765" y="4649651"/>
            <a:ext cx="7808180" cy="72979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dirty="0">
                <a:latin typeface="Franklin Gothic Book" panose="020B0503020102020204" pitchFamily="34" charset="0"/>
              </a:rPr>
              <a:t>A Blog</a:t>
            </a:r>
          </a:p>
        </p:txBody>
      </p:sp>
      <p:sp>
        <p:nvSpPr>
          <p:cNvPr id="27" name="Google Shape;1492;p38">
            <a:extLst>
              <a:ext uri="{FF2B5EF4-FFF2-40B4-BE49-F238E27FC236}">
                <a16:creationId xmlns:a16="http://schemas.microsoft.com/office/drawing/2014/main" id="{0239F0AC-2853-4915-A33B-937AD78A5899}"/>
              </a:ext>
            </a:extLst>
          </p:cNvPr>
          <p:cNvSpPr txBox="1">
            <a:spLocks/>
          </p:cNvSpPr>
          <p:nvPr/>
        </p:nvSpPr>
        <p:spPr>
          <a:xfrm>
            <a:off x="1419796" y="3029147"/>
            <a:ext cx="7808180" cy="1352847"/>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6000" b="1" dirty="0">
                <a:latin typeface="Franklin Gothic Book" panose="020B0503020102020204" pitchFamily="34" charset="0"/>
              </a:rPr>
              <a:t>Using a Case Study</a:t>
            </a:r>
          </a:p>
        </p:txBody>
      </p:sp>
      <p:sp>
        <p:nvSpPr>
          <p:cNvPr id="73" name="Rectangle 72">
            <a:extLst>
              <a:ext uri="{FF2B5EF4-FFF2-40B4-BE49-F238E27FC236}">
                <a16:creationId xmlns:a16="http://schemas.microsoft.com/office/drawing/2014/main" id="{2CE69ED7-1F92-463B-AAC3-81AAF1EACFC3}"/>
              </a:ext>
            </a:extLst>
          </p:cNvPr>
          <p:cNvSpPr/>
          <p:nvPr/>
        </p:nvSpPr>
        <p:spPr>
          <a:xfrm>
            <a:off x="1531765" y="4405091"/>
            <a:ext cx="4610890" cy="98615"/>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3AEA32FE-9780-40F0-9F3E-22D5BA6B4DA3}"/>
              </a:ext>
            </a:extLst>
          </p:cNvPr>
          <p:cNvSpPr>
            <a:spLocks noGrp="1"/>
          </p:cNvSpPr>
          <p:nvPr>
            <p:ph type="sldNum" sz="quarter" idx="12"/>
          </p:nvPr>
        </p:nvSpPr>
        <p:spPr/>
        <p:txBody>
          <a:bodyPr/>
          <a:lstStyle/>
          <a:p>
            <a:fld id="{D31C74E5-D250-4BDE-BB1A-AE4DD479CC99}" type="slidenum">
              <a:rPr lang="en-GB" smtClean="0"/>
              <a:t>26</a:t>
            </a:fld>
            <a:endParaRPr lang="en-GB"/>
          </a:p>
        </p:txBody>
      </p:sp>
    </p:spTree>
    <p:extLst>
      <p:ext uri="{BB962C8B-B14F-4D97-AF65-F5344CB8AC3E}">
        <p14:creationId xmlns:p14="http://schemas.microsoft.com/office/powerpoint/2010/main" val="1624801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Using a Case Study – Blog</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533;p39">
            <a:extLst>
              <a:ext uri="{FF2B5EF4-FFF2-40B4-BE49-F238E27FC236}">
                <a16:creationId xmlns:a16="http://schemas.microsoft.com/office/drawing/2014/main" id="{1725C384-7037-4A4E-8FFE-C27D064A8543}"/>
              </a:ext>
            </a:extLst>
          </p:cNvPr>
          <p:cNvSpPr txBox="1">
            <a:spLocks/>
          </p:cNvSpPr>
          <p:nvPr/>
        </p:nvSpPr>
        <p:spPr>
          <a:xfrm>
            <a:off x="624469" y="1920954"/>
            <a:ext cx="5692355" cy="46179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1600" b="1" dirty="0">
                <a:latin typeface="Franklin Gothic Book" panose="020B0503020102020204" pitchFamily="34" charset="0"/>
              </a:rPr>
              <a:t>1. Understanding the Requirements</a:t>
            </a:r>
          </a:p>
          <a:p>
            <a:pPr marL="139700" indent="0"/>
            <a:r>
              <a:rPr lang="en-US" sz="1600" dirty="0">
                <a:latin typeface="Franklin Gothic Book" panose="020B0503020102020204" pitchFamily="34" charset="0"/>
              </a:rPr>
              <a:t>Before writing any code, define what the system should do.</a:t>
            </a:r>
          </a:p>
          <a:p>
            <a:pPr marL="139700" indent="0"/>
            <a:endParaRPr lang="en-US" sz="1600" dirty="0">
              <a:latin typeface="Franklin Gothic Book" panose="020B0503020102020204" pitchFamily="34" charset="0"/>
            </a:endParaRPr>
          </a:p>
          <a:p>
            <a:pPr marL="139700" indent="0"/>
            <a:r>
              <a:rPr lang="en-US" sz="1600" b="1" dirty="0">
                <a:latin typeface="Franklin Gothic Book" panose="020B0503020102020204" pitchFamily="34" charset="0"/>
              </a:rPr>
              <a:t>Core Features of the School Blog:</a:t>
            </a:r>
          </a:p>
          <a:p>
            <a:pPr marL="425450" indent="-285750">
              <a:buFont typeface="Arial" panose="020B0604020202020204" pitchFamily="34" charset="0"/>
              <a:buChar char="•"/>
            </a:pPr>
            <a:r>
              <a:rPr lang="en-US" sz="1600" dirty="0">
                <a:latin typeface="Franklin Gothic Book" panose="020B0503020102020204" pitchFamily="34" charset="0"/>
              </a:rPr>
              <a:t>Students &amp; teachers can create blog posts.</a:t>
            </a:r>
          </a:p>
          <a:p>
            <a:pPr marL="425450" indent="-285750">
              <a:buFont typeface="Arial" panose="020B0604020202020204" pitchFamily="34" charset="0"/>
              <a:buChar char="•"/>
            </a:pPr>
            <a:r>
              <a:rPr lang="en-US" sz="1600" dirty="0">
                <a:latin typeface="Franklin Gothic Book" panose="020B0503020102020204" pitchFamily="34" charset="0"/>
              </a:rPr>
              <a:t>Users can comment on posts.</a:t>
            </a:r>
          </a:p>
          <a:p>
            <a:pPr marL="425450" indent="-285750">
              <a:buFont typeface="Arial" panose="020B0604020202020204" pitchFamily="34" charset="0"/>
              <a:buChar char="•"/>
            </a:pPr>
            <a:r>
              <a:rPr lang="en-US" sz="1600" dirty="0">
                <a:latin typeface="Franklin Gothic Book" panose="020B0503020102020204" pitchFamily="34" charset="0"/>
              </a:rPr>
              <a:t>Posts should be categorized (e.g., "Academics," "Sports," "Events").</a:t>
            </a:r>
          </a:p>
          <a:p>
            <a:pPr marL="425450" indent="-285750">
              <a:buFont typeface="Arial" panose="020B0604020202020204" pitchFamily="34" charset="0"/>
              <a:buChar char="•"/>
            </a:pPr>
            <a:r>
              <a:rPr lang="en-US" sz="1600" dirty="0">
                <a:latin typeface="Franklin Gothic Book" panose="020B0503020102020204" pitchFamily="34" charset="0"/>
              </a:rPr>
              <a:t>User authentication (students, teachers, admins).</a:t>
            </a:r>
          </a:p>
          <a:p>
            <a:pPr marL="425450" indent="-285750">
              <a:buFont typeface="Arial" panose="020B0604020202020204" pitchFamily="34" charset="0"/>
              <a:buChar char="•"/>
            </a:pPr>
            <a:r>
              <a:rPr lang="en-US" sz="1600" dirty="0">
                <a:latin typeface="Franklin Gothic Book" panose="020B0503020102020204" pitchFamily="34" charset="0"/>
              </a:rPr>
              <a:t>Role-based permissions (only teachers can approve posts, students can only write and comment).</a:t>
            </a:r>
          </a:p>
          <a:p>
            <a:pPr marL="425450" indent="-285750">
              <a:buFont typeface="Arial" panose="020B0604020202020204" pitchFamily="34" charset="0"/>
              <a:buChar char="•"/>
            </a:pPr>
            <a:r>
              <a:rPr lang="en-US" sz="1600" dirty="0">
                <a:latin typeface="Franklin Gothic Book" panose="020B0503020102020204" pitchFamily="34" charset="0"/>
              </a:rPr>
              <a:t>Media uploads (images for posts).</a:t>
            </a:r>
          </a:p>
          <a:p>
            <a:pPr marL="425450" indent="-285750">
              <a:buFont typeface="Arial" panose="020B0604020202020204" pitchFamily="34" charset="0"/>
              <a:buChar char="•"/>
            </a:pPr>
            <a:r>
              <a:rPr lang="en-US" sz="1600" dirty="0">
                <a:latin typeface="Franklin Gothic Book" panose="020B0503020102020204" pitchFamily="34" charset="0"/>
              </a:rPr>
              <a:t>Search &amp; filtering (by author, category, date, etc.).</a:t>
            </a:r>
          </a:p>
        </p:txBody>
      </p:sp>
      <p:sp>
        <p:nvSpPr>
          <p:cNvPr id="6" name="Google Shape;1533;p39">
            <a:extLst>
              <a:ext uri="{FF2B5EF4-FFF2-40B4-BE49-F238E27FC236}">
                <a16:creationId xmlns:a16="http://schemas.microsoft.com/office/drawing/2014/main" id="{FE9CC064-DBBC-4AD6-87E8-898949D61597}"/>
              </a:ext>
            </a:extLst>
          </p:cNvPr>
          <p:cNvSpPr txBox="1">
            <a:spLocks/>
          </p:cNvSpPr>
          <p:nvPr/>
        </p:nvSpPr>
        <p:spPr>
          <a:xfrm>
            <a:off x="624469" y="661931"/>
            <a:ext cx="1039820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000" dirty="0">
                <a:latin typeface="Franklin Gothic Book" panose="020B0503020102020204" pitchFamily="34" charset="0"/>
              </a:rPr>
              <a:t>When designing a backend system, especially for beginners, it’s important to break it down into well-defined steps. Below is a simple yet effective approach to architecting a blog backend for a school.</a:t>
            </a:r>
          </a:p>
        </p:txBody>
      </p:sp>
      <p:sp>
        <p:nvSpPr>
          <p:cNvPr id="3" name="Slide Number Placeholder 2">
            <a:extLst>
              <a:ext uri="{FF2B5EF4-FFF2-40B4-BE49-F238E27FC236}">
                <a16:creationId xmlns:a16="http://schemas.microsoft.com/office/drawing/2014/main" id="{768A18ED-CAB1-47DB-AAAA-C8A9DC0DB198}"/>
              </a:ext>
            </a:extLst>
          </p:cNvPr>
          <p:cNvSpPr>
            <a:spLocks noGrp="1"/>
          </p:cNvSpPr>
          <p:nvPr>
            <p:ph type="sldNum" sz="quarter" idx="12"/>
          </p:nvPr>
        </p:nvSpPr>
        <p:spPr/>
        <p:txBody>
          <a:bodyPr/>
          <a:lstStyle/>
          <a:p>
            <a:fld id="{D31C74E5-D250-4BDE-BB1A-AE4DD479CC99}" type="slidenum">
              <a:rPr lang="en-GB" smtClean="0"/>
              <a:t>27</a:t>
            </a:fld>
            <a:endParaRPr lang="en-GB"/>
          </a:p>
        </p:txBody>
      </p:sp>
      <p:sp>
        <p:nvSpPr>
          <p:cNvPr id="9" name="Google Shape;1533;p39">
            <a:extLst>
              <a:ext uri="{FF2B5EF4-FFF2-40B4-BE49-F238E27FC236}">
                <a16:creationId xmlns:a16="http://schemas.microsoft.com/office/drawing/2014/main" id="{2EC11372-0CEE-4910-BD2C-0B35F9DF039E}"/>
              </a:ext>
            </a:extLst>
          </p:cNvPr>
          <p:cNvSpPr txBox="1">
            <a:spLocks/>
          </p:cNvSpPr>
          <p:nvPr/>
        </p:nvSpPr>
        <p:spPr>
          <a:xfrm>
            <a:off x="6235277" y="1920954"/>
            <a:ext cx="5692355" cy="46179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1600" b="1" dirty="0">
                <a:latin typeface="Franklin Gothic Book" panose="020B0503020102020204" pitchFamily="34" charset="0"/>
              </a:rPr>
              <a:t>2. Choosing the Tech Stack</a:t>
            </a:r>
          </a:p>
          <a:p>
            <a:pPr marL="139700" indent="0"/>
            <a:r>
              <a:rPr lang="en-US" sz="1600" dirty="0">
                <a:latin typeface="Franklin Gothic Book" panose="020B0503020102020204" pitchFamily="34" charset="0"/>
              </a:rPr>
              <a:t>As a backend developer, you need to decide on the technology stack based on scalability, ease of use, and community support.</a:t>
            </a:r>
          </a:p>
          <a:p>
            <a:pPr marL="139700" indent="0"/>
            <a:r>
              <a:rPr lang="en-US" sz="1600" b="1" dirty="0">
                <a:latin typeface="Franklin Gothic Book" panose="020B0503020102020204" pitchFamily="34" charset="0"/>
              </a:rPr>
              <a:t>Backend Framework </a:t>
            </a:r>
            <a:r>
              <a:rPr lang="en-US" sz="1600" dirty="0">
                <a:latin typeface="Franklin Gothic Book" panose="020B0503020102020204" pitchFamily="34" charset="0"/>
              </a:rPr>
              <a:t>= Node.js with Express.js</a:t>
            </a:r>
          </a:p>
          <a:p>
            <a:pPr marL="139700" indent="0"/>
            <a:r>
              <a:rPr lang="en-US" sz="1600" b="1" dirty="0">
                <a:latin typeface="Franklin Gothic Book" panose="020B0503020102020204" pitchFamily="34" charset="0"/>
              </a:rPr>
              <a:t>Database</a:t>
            </a:r>
            <a:r>
              <a:rPr lang="en-US" sz="1600" dirty="0">
                <a:latin typeface="Franklin Gothic Book" panose="020B0503020102020204" pitchFamily="34" charset="0"/>
              </a:rPr>
              <a:t> = MongoDB (NoSQL) or MySQL (SQL)</a:t>
            </a:r>
          </a:p>
          <a:p>
            <a:pPr marL="139700" indent="0"/>
            <a:r>
              <a:rPr lang="en-US" sz="1600" b="1" dirty="0">
                <a:latin typeface="Franklin Gothic Book" panose="020B0503020102020204" pitchFamily="34" charset="0"/>
              </a:rPr>
              <a:t>Authentication</a:t>
            </a:r>
            <a:r>
              <a:rPr lang="en-US" sz="1600" dirty="0">
                <a:latin typeface="Franklin Gothic Book" panose="020B0503020102020204" pitchFamily="34" charset="0"/>
              </a:rPr>
              <a:t> = JWT (JSON Web Tokens) or Session-based Auth</a:t>
            </a:r>
          </a:p>
          <a:p>
            <a:pPr marL="139700" indent="0"/>
            <a:r>
              <a:rPr lang="en-US" sz="1600" b="1" dirty="0">
                <a:latin typeface="Franklin Gothic Book" panose="020B0503020102020204" pitchFamily="34" charset="0"/>
              </a:rPr>
              <a:t>File Storage </a:t>
            </a:r>
            <a:r>
              <a:rPr lang="en-US" sz="1600" dirty="0">
                <a:latin typeface="Franklin Gothic Book" panose="020B0503020102020204" pitchFamily="34" charset="0"/>
              </a:rPr>
              <a:t>= </a:t>
            </a:r>
            <a:r>
              <a:rPr lang="en-US" sz="1600" dirty="0" err="1">
                <a:latin typeface="Franklin Gothic Book" panose="020B0503020102020204" pitchFamily="34" charset="0"/>
              </a:rPr>
              <a:t>Cloudinary</a:t>
            </a:r>
            <a:r>
              <a:rPr lang="en-US" sz="1600" dirty="0">
                <a:latin typeface="Franklin Gothic Book" panose="020B0503020102020204" pitchFamily="34" charset="0"/>
              </a:rPr>
              <a:t> (for images) or local disk storage</a:t>
            </a:r>
          </a:p>
          <a:p>
            <a:pPr marL="139700" indent="0"/>
            <a:r>
              <a:rPr lang="en-US" sz="1600" b="1" dirty="0">
                <a:latin typeface="Franklin Gothic Book" panose="020B0503020102020204" pitchFamily="34" charset="0"/>
              </a:rPr>
              <a:t>Deployment</a:t>
            </a:r>
            <a:r>
              <a:rPr lang="en-US" sz="1600" dirty="0">
                <a:latin typeface="Franklin Gothic Book" panose="020B0503020102020204" pitchFamily="34" charset="0"/>
              </a:rPr>
              <a:t> = Docker + AWS (or </a:t>
            </a:r>
            <a:r>
              <a:rPr lang="en-US" sz="1600" dirty="0" err="1">
                <a:latin typeface="Franklin Gothic Book" panose="020B0503020102020204" pitchFamily="34" charset="0"/>
              </a:rPr>
              <a:t>DigitalOcean</a:t>
            </a:r>
            <a:r>
              <a:rPr lang="en-US" sz="1600" dirty="0">
                <a:latin typeface="Franklin Gothic Book" panose="020B0503020102020204" pitchFamily="34" charset="0"/>
              </a:rPr>
              <a:t>, Railway)</a:t>
            </a:r>
          </a:p>
          <a:p>
            <a:pPr marL="139700" indent="0"/>
            <a:r>
              <a:rPr lang="en-US" sz="1600" dirty="0">
                <a:latin typeface="Franklin Gothic Book" panose="020B0503020102020204" pitchFamily="34" charset="0"/>
              </a:rPr>
              <a:t>API Documentation	Swagger</a:t>
            </a:r>
          </a:p>
        </p:txBody>
      </p:sp>
    </p:spTree>
    <p:extLst>
      <p:ext uri="{BB962C8B-B14F-4D97-AF65-F5344CB8AC3E}">
        <p14:creationId xmlns:p14="http://schemas.microsoft.com/office/powerpoint/2010/main" val="276896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Using a Case Study – Blog</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5" name="Google Shape;1533;p39">
            <a:extLst>
              <a:ext uri="{FF2B5EF4-FFF2-40B4-BE49-F238E27FC236}">
                <a16:creationId xmlns:a16="http://schemas.microsoft.com/office/drawing/2014/main" id="{1725C384-7037-4A4E-8FFE-C27D064A8543}"/>
              </a:ext>
            </a:extLst>
          </p:cNvPr>
          <p:cNvSpPr txBox="1">
            <a:spLocks/>
          </p:cNvSpPr>
          <p:nvPr/>
        </p:nvSpPr>
        <p:spPr>
          <a:xfrm>
            <a:off x="624469" y="1920954"/>
            <a:ext cx="5692355" cy="46179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1600" b="1" dirty="0">
                <a:latin typeface="Franklin Gothic Book" panose="020B0503020102020204" pitchFamily="34" charset="0"/>
              </a:rPr>
              <a:t>3. Designing the Folder Structure and Database Schema</a:t>
            </a:r>
          </a:p>
          <a:p>
            <a:pPr marL="139700" indent="0"/>
            <a:r>
              <a:rPr lang="en-US" sz="1600" dirty="0">
                <a:latin typeface="Franklin Gothic Book" panose="020B0503020102020204" pitchFamily="34" charset="0"/>
              </a:rPr>
              <a:t>A well-structured project makes it easy to scale and maintain.</a:t>
            </a:r>
          </a:p>
          <a:p>
            <a:pPr marL="139700" indent="0"/>
            <a:endParaRPr lang="en-US" sz="1600" dirty="0">
              <a:latin typeface="Franklin Gothic Book" panose="020B0503020102020204" pitchFamily="34" charset="0"/>
            </a:endParaRPr>
          </a:p>
          <a:p>
            <a:pPr marL="139700" indent="0"/>
            <a:r>
              <a:rPr lang="en-US" dirty="0">
                <a:latin typeface="Franklin Gothic Book" panose="020B0503020102020204" pitchFamily="34" charset="0"/>
              </a:rPr>
              <a:t>school-blog-</a:t>
            </a:r>
            <a:r>
              <a:rPr lang="en-US" dirty="0" err="1">
                <a:latin typeface="Franklin Gothic Book" panose="020B0503020102020204" pitchFamily="34" charset="0"/>
              </a:rPr>
              <a:t>api</a:t>
            </a:r>
            <a:r>
              <a:rPr lang="en-US" dirty="0">
                <a:latin typeface="Franklin Gothic Book" panose="020B0503020102020204" pitchFamily="34" charset="0"/>
              </a:rPr>
              <a:t>/</a:t>
            </a:r>
          </a:p>
          <a:p>
            <a:pPr marL="139700" indent="0"/>
            <a:r>
              <a:rPr lang="en-US" dirty="0">
                <a:latin typeface="Franklin Gothic Book" panose="020B0503020102020204" pitchFamily="34" charset="0"/>
              </a:rPr>
              <a:t>│-- </a:t>
            </a:r>
            <a:r>
              <a:rPr lang="en-US" dirty="0" err="1">
                <a:latin typeface="Franklin Gothic Book" panose="020B0503020102020204" pitchFamily="34" charset="0"/>
              </a:rPr>
              <a:t>src</a:t>
            </a:r>
            <a:r>
              <a:rPr lang="en-US" dirty="0">
                <a:latin typeface="Franklin Gothic Book" panose="020B0503020102020204" pitchFamily="34" charset="0"/>
              </a:rPr>
              <a:t>/</a:t>
            </a:r>
          </a:p>
          <a:p>
            <a:pPr marL="139700" indent="0"/>
            <a:r>
              <a:rPr lang="en-US" dirty="0">
                <a:latin typeface="Franklin Gothic Book" panose="020B0503020102020204" pitchFamily="34" charset="0"/>
              </a:rPr>
              <a:t>│   ├── config/          # Database connections &amp; app configurations</a:t>
            </a:r>
          </a:p>
          <a:p>
            <a:pPr marL="139700" indent="0"/>
            <a:r>
              <a:rPr lang="en-US" dirty="0">
                <a:latin typeface="Franklin Gothic Book" panose="020B0503020102020204" pitchFamily="34" charset="0"/>
              </a:rPr>
              <a:t>│   ├── controllers/     # Business logic (handling requests)</a:t>
            </a:r>
          </a:p>
          <a:p>
            <a:pPr marL="139700" indent="0"/>
            <a:r>
              <a:rPr lang="en-US" dirty="0">
                <a:latin typeface="Franklin Gothic Book" panose="020B0503020102020204" pitchFamily="34" charset="0"/>
              </a:rPr>
              <a:t>│   ├── middleware/      # Middleware (auth, validation, etc.)</a:t>
            </a:r>
          </a:p>
          <a:p>
            <a:pPr marL="139700" indent="0"/>
            <a:r>
              <a:rPr lang="en-US" dirty="0">
                <a:latin typeface="Franklin Gothic Book" panose="020B0503020102020204" pitchFamily="34" charset="0"/>
              </a:rPr>
              <a:t>│   ├── models/         # Database models/schema</a:t>
            </a:r>
          </a:p>
          <a:p>
            <a:pPr marL="139700" indent="0"/>
            <a:r>
              <a:rPr lang="en-US" dirty="0">
                <a:latin typeface="Franklin Gothic Book" panose="020B0503020102020204" pitchFamily="34" charset="0"/>
              </a:rPr>
              <a:t>│   ├── routes/         # API endpoints</a:t>
            </a:r>
          </a:p>
          <a:p>
            <a:pPr marL="139700" indent="0"/>
            <a:r>
              <a:rPr lang="en-US" dirty="0">
                <a:latin typeface="Franklin Gothic Book" panose="020B0503020102020204" pitchFamily="34" charset="0"/>
              </a:rPr>
              <a:t>│   ├── services/       # External services (email, cloud storage, etc.)</a:t>
            </a:r>
          </a:p>
          <a:p>
            <a:pPr marL="139700" indent="0"/>
            <a:r>
              <a:rPr lang="en-US" dirty="0">
                <a:latin typeface="Franklin Gothic Book" panose="020B0503020102020204" pitchFamily="34" charset="0"/>
              </a:rPr>
              <a:t>│   ├── </a:t>
            </a:r>
            <a:r>
              <a:rPr lang="en-US" dirty="0" err="1">
                <a:latin typeface="Franklin Gothic Book" panose="020B0503020102020204" pitchFamily="34" charset="0"/>
              </a:rPr>
              <a:t>utils</a:t>
            </a:r>
            <a:r>
              <a:rPr lang="en-US" dirty="0">
                <a:latin typeface="Franklin Gothic Book" panose="020B0503020102020204" pitchFamily="34" charset="0"/>
              </a:rPr>
              <a:t>/          # Helper functions</a:t>
            </a:r>
          </a:p>
          <a:p>
            <a:pPr marL="139700" indent="0"/>
            <a:r>
              <a:rPr lang="en-US" dirty="0">
                <a:latin typeface="Franklin Gothic Book" panose="020B0503020102020204" pitchFamily="34" charset="0"/>
              </a:rPr>
              <a:t>│   ├── app.js          # Main app file</a:t>
            </a:r>
          </a:p>
          <a:p>
            <a:pPr marL="139700" indent="0"/>
            <a:r>
              <a:rPr lang="en-US" dirty="0">
                <a:latin typeface="Franklin Gothic Book" panose="020B0503020102020204" pitchFamily="34" charset="0"/>
              </a:rPr>
              <a:t>│-- tests/              # Unit and integration tests</a:t>
            </a:r>
          </a:p>
          <a:p>
            <a:pPr marL="139700" indent="0"/>
            <a:r>
              <a:rPr lang="en-US" dirty="0">
                <a:latin typeface="Franklin Gothic Book" panose="020B0503020102020204" pitchFamily="34" charset="0"/>
              </a:rPr>
              <a:t>│-- .env                # Environment variables</a:t>
            </a:r>
          </a:p>
          <a:p>
            <a:pPr marL="139700" indent="0"/>
            <a:r>
              <a:rPr lang="en-US" dirty="0">
                <a:latin typeface="Franklin Gothic Book" panose="020B0503020102020204" pitchFamily="34" charset="0"/>
              </a:rPr>
              <a:t>│-- </a:t>
            </a:r>
            <a:r>
              <a:rPr lang="en-US" dirty="0" err="1">
                <a:latin typeface="Franklin Gothic Book" panose="020B0503020102020204" pitchFamily="34" charset="0"/>
              </a:rPr>
              <a:t>package.json</a:t>
            </a:r>
            <a:r>
              <a:rPr lang="en-US" dirty="0">
                <a:latin typeface="Franklin Gothic Book" panose="020B0503020102020204" pitchFamily="34" charset="0"/>
              </a:rPr>
              <a:t>        # Dependencies</a:t>
            </a:r>
          </a:p>
          <a:p>
            <a:pPr marL="139700" indent="0"/>
            <a:r>
              <a:rPr lang="en-US" dirty="0">
                <a:latin typeface="Franklin Gothic Book" panose="020B0503020102020204" pitchFamily="34" charset="0"/>
              </a:rPr>
              <a:t>│-- README.md           # Project documentation</a:t>
            </a:r>
            <a:endParaRPr lang="en-US" sz="1600" dirty="0">
              <a:latin typeface="Franklin Gothic Book" panose="020B0503020102020204" pitchFamily="34" charset="0"/>
            </a:endParaRPr>
          </a:p>
        </p:txBody>
      </p:sp>
      <p:sp>
        <p:nvSpPr>
          <p:cNvPr id="6" name="Google Shape;1533;p39">
            <a:extLst>
              <a:ext uri="{FF2B5EF4-FFF2-40B4-BE49-F238E27FC236}">
                <a16:creationId xmlns:a16="http://schemas.microsoft.com/office/drawing/2014/main" id="{FE9CC064-DBBC-4AD6-87E8-898949D61597}"/>
              </a:ext>
            </a:extLst>
          </p:cNvPr>
          <p:cNvSpPr txBox="1">
            <a:spLocks/>
          </p:cNvSpPr>
          <p:nvPr/>
        </p:nvSpPr>
        <p:spPr>
          <a:xfrm>
            <a:off x="624469" y="661931"/>
            <a:ext cx="1039820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000" dirty="0">
                <a:latin typeface="Franklin Gothic Book" panose="020B0503020102020204" pitchFamily="34" charset="0"/>
              </a:rPr>
              <a:t>When designing a backend system, especially for beginners, it’s important to break it down into well-defined steps. Below is a simple yet effective approach to architecting a blog backend for a school.</a:t>
            </a:r>
          </a:p>
        </p:txBody>
      </p:sp>
      <p:sp>
        <p:nvSpPr>
          <p:cNvPr id="3" name="Slide Number Placeholder 2">
            <a:extLst>
              <a:ext uri="{FF2B5EF4-FFF2-40B4-BE49-F238E27FC236}">
                <a16:creationId xmlns:a16="http://schemas.microsoft.com/office/drawing/2014/main" id="{768A18ED-CAB1-47DB-AAAA-C8A9DC0DB198}"/>
              </a:ext>
            </a:extLst>
          </p:cNvPr>
          <p:cNvSpPr>
            <a:spLocks noGrp="1"/>
          </p:cNvSpPr>
          <p:nvPr>
            <p:ph type="sldNum" sz="quarter" idx="12"/>
          </p:nvPr>
        </p:nvSpPr>
        <p:spPr/>
        <p:txBody>
          <a:bodyPr/>
          <a:lstStyle/>
          <a:p>
            <a:fld id="{D31C74E5-D250-4BDE-BB1A-AE4DD479CC99}" type="slidenum">
              <a:rPr lang="en-GB" smtClean="0"/>
              <a:t>28</a:t>
            </a:fld>
            <a:endParaRPr lang="en-GB"/>
          </a:p>
        </p:txBody>
      </p:sp>
      <p:sp>
        <p:nvSpPr>
          <p:cNvPr id="9" name="Google Shape;1533;p39">
            <a:extLst>
              <a:ext uri="{FF2B5EF4-FFF2-40B4-BE49-F238E27FC236}">
                <a16:creationId xmlns:a16="http://schemas.microsoft.com/office/drawing/2014/main" id="{2EC11372-0CEE-4910-BD2C-0B35F9DF039E}"/>
              </a:ext>
            </a:extLst>
          </p:cNvPr>
          <p:cNvSpPr txBox="1">
            <a:spLocks/>
          </p:cNvSpPr>
          <p:nvPr/>
        </p:nvSpPr>
        <p:spPr>
          <a:xfrm>
            <a:off x="6244608" y="1679510"/>
            <a:ext cx="5692355" cy="48594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1600" b="1" dirty="0">
                <a:latin typeface="Franklin Gothic Book" panose="020B0503020102020204" pitchFamily="34" charset="0"/>
              </a:rPr>
              <a:t>4. Building the API Endpoints</a:t>
            </a:r>
          </a:p>
          <a:p>
            <a:pPr marL="139700" indent="0"/>
            <a:r>
              <a:rPr lang="en-US" sz="1600" b="1" dirty="0">
                <a:latin typeface="Franklin Gothic Book" panose="020B0503020102020204" pitchFamily="34" charset="0"/>
              </a:rPr>
              <a:t>5. Optimizing for Performance</a:t>
            </a:r>
            <a:endParaRPr lang="en-US" sz="1600" dirty="0">
              <a:latin typeface="Franklin Gothic Book" panose="020B0503020102020204" pitchFamily="34" charset="0"/>
            </a:endParaRPr>
          </a:p>
          <a:p>
            <a:pPr marL="425450" indent="-285750">
              <a:buFont typeface="Arial" panose="020B0604020202020204" pitchFamily="34" charset="0"/>
              <a:buChar char="•"/>
            </a:pPr>
            <a:r>
              <a:rPr lang="en-US" sz="1600" dirty="0">
                <a:latin typeface="Franklin Gothic Book" panose="020B0503020102020204" pitchFamily="34" charset="0"/>
              </a:rPr>
              <a:t>Caching: Use Redis for frequently accessed posts.</a:t>
            </a:r>
          </a:p>
          <a:p>
            <a:pPr marL="425450" indent="-285750">
              <a:buFont typeface="Arial" panose="020B0604020202020204" pitchFamily="34" charset="0"/>
              <a:buChar char="•"/>
            </a:pPr>
            <a:r>
              <a:rPr lang="en-US" sz="1600" dirty="0">
                <a:latin typeface="Franklin Gothic Book" panose="020B0503020102020204" pitchFamily="34" charset="0"/>
              </a:rPr>
              <a:t>Pagination: Limit results (e.g., ?page=1&amp;limit=10).</a:t>
            </a:r>
          </a:p>
          <a:p>
            <a:pPr marL="425450" indent="-285750">
              <a:buFont typeface="Arial" panose="020B0604020202020204" pitchFamily="34" charset="0"/>
              <a:buChar char="•"/>
            </a:pPr>
            <a:r>
              <a:rPr lang="en-US" sz="1600" dirty="0">
                <a:latin typeface="Franklin Gothic Book" panose="020B0503020102020204" pitchFamily="34" charset="0"/>
              </a:rPr>
              <a:t>Database Indexing: Ensure indexes exist on email, post titles, and categories.</a:t>
            </a:r>
          </a:p>
          <a:p>
            <a:pPr marL="425450" indent="-285750">
              <a:buFont typeface="Arial" panose="020B0604020202020204" pitchFamily="34" charset="0"/>
              <a:buChar char="•"/>
            </a:pPr>
            <a:r>
              <a:rPr lang="en-US" sz="1600" dirty="0">
                <a:latin typeface="Franklin Gothic Book" panose="020B0503020102020204" pitchFamily="34" charset="0"/>
              </a:rPr>
              <a:t>Load Balancing: Use NGINX to distribute traffic.</a:t>
            </a:r>
          </a:p>
          <a:p>
            <a:pPr marL="139700" indent="0"/>
            <a:endParaRPr lang="en-US" sz="1600" dirty="0">
              <a:latin typeface="Franklin Gothic Book" panose="020B0503020102020204" pitchFamily="34" charset="0"/>
            </a:endParaRPr>
          </a:p>
          <a:p>
            <a:pPr marL="139700" indent="0"/>
            <a:r>
              <a:rPr lang="en-US" sz="1600" b="1" dirty="0">
                <a:latin typeface="Franklin Gothic Book" panose="020B0503020102020204" pitchFamily="34" charset="0"/>
              </a:rPr>
              <a:t>6. Deployment Strategy</a:t>
            </a:r>
          </a:p>
          <a:p>
            <a:pPr marL="425450" indent="-285750">
              <a:buFont typeface="Arial" panose="020B0604020202020204" pitchFamily="34" charset="0"/>
              <a:buChar char="•"/>
            </a:pPr>
            <a:r>
              <a:rPr lang="en-US" sz="1600" dirty="0">
                <a:latin typeface="Franklin Gothic Book" panose="020B0503020102020204" pitchFamily="34" charset="0"/>
              </a:rPr>
              <a:t>Use Docker to containerize the app.</a:t>
            </a:r>
          </a:p>
          <a:p>
            <a:pPr marL="425450" indent="-285750">
              <a:buFont typeface="Arial" panose="020B0604020202020204" pitchFamily="34" charset="0"/>
              <a:buChar char="•"/>
            </a:pPr>
            <a:r>
              <a:rPr lang="en-US" sz="1600" dirty="0">
                <a:latin typeface="Franklin Gothic Book" panose="020B0503020102020204" pitchFamily="34" charset="0"/>
              </a:rPr>
              <a:t>Use a CI/CD pipeline (GitHub Actions) to automate testing &amp; deployment.</a:t>
            </a:r>
          </a:p>
          <a:p>
            <a:pPr marL="425450" indent="-285750">
              <a:buFont typeface="Arial" panose="020B0604020202020204" pitchFamily="34" charset="0"/>
              <a:buChar char="•"/>
            </a:pPr>
            <a:r>
              <a:rPr lang="en-US" sz="1600" dirty="0">
                <a:latin typeface="Franklin Gothic Book" panose="020B0503020102020204" pitchFamily="34" charset="0"/>
              </a:rPr>
              <a:t>Deploy to a cloud provider (AWS, </a:t>
            </a:r>
            <a:r>
              <a:rPr lang="en-US" sz="1600" dirty="0" err="1">
                <a:latin typeface="Franklin Gothic Book" panose="020B0503020102020204" pitchFamily="34" charset="0"/>
              </a:rPr>
              <a:t>DigitalOcean</a:t>
            </a:r>
            <a:r>
              <a:rPr lang="en-US" sz="1600" dirty="0">
                <a:latin typeface="Franklin Gothic Book" panose="020B0503020102020204" pitchFamily="34" charset="0"/>
              </a:rPr>
              <a:t>, or Railway).</a:t>
            </a:r>
          </a:p>
          <a:p>
            <a:pPr marL="139700" indent="0"/>
            <a:r>
              <a:rPr lang="en-US" sz="1600" b="1" dirty="0">
                <a:latin typeface="Franklin Gothic Book" panose="020B0503020102020204" pitchFamily="34" charset="0"/>
              </a:rPr>
              <a:t>7. Security Considerations </a:t>
            </a:r>
          </a:p>
          <a:p>
            <a:pPr marL="139700" indent="0"/>
            <a:r>
              <a:rPr lang="en-US" sz="1600" b="1" dirty="0">
                <a:latin typeface="Franklin Gothic Book" panose="020B0503020102020204" pitchFamily="34" charset="0"/>
              </a:rPr>
              <a:t>8. Error handling and monitoring</a:t>
            </a:r>
          </a:p>
          <a:p>
            <a:pPr marL="139700" indent="0"/>
            <a:endParaRPr lang="en-US" sz="1600" dirty="0">
              <a:latin typeface="Franklin Gothic Book" panose="020B0503020102020204" pitchFamily="34" charset="0"/>
            </a:endParaRPr>
          </a:p>
        </p:txBody>
      </p:sp>
    </p:spTree>
    <p:extLst>
      <p:ext uri="{BB962C8B-B14F-4D97-AF65-F5344CB8AC3E}">
        <p14:creationId xmlns:p14="http://schemas.microsoft.com/office/powerpoint/2010/main" val="794569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7;p37">
            <a:extLst>
              <a:ext uri="{FF2B5EF4-FFF2-40B4-BE49-F238E27FC236}">
                <a16:creationId xmlns:a16="http://schemas.microsoft.com/office/drawing/2014/main" id="{21086ECD-97A1-41CF-9F82-3FC0E97356A5}"/>
              </a:ext>
            </a:extLst>
          </p:cNvPr>
          <p:cNvSpPr txBox="1">
            <a:spLocks/>
          </p:cNvSpPr>
          <p:nvPr/>
        </p:nvSpPr>
        <p:spPr>
          <a:xfrm>
            <a:off x="514696" y="-2715"/>
            <a:ext cx="8909221" cy="5727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3200" b="1" dirty="0">
                <a:solidFill>
                  <a:schemeClr val="bg1"/>
                </a:solidFill>
                <a:latin typeface="Franklin Gothic Book" panose="020B0503020102020204" pitchFamily="34" charset="0"/>
                <a:ea typeface="IBM Plex Mono"/>
                <a:cs typeface="IBM Plex Mono"/>
                <a:sym typeface="IBM Plex Mono"/>
              </a:rPr>
              <a:t>Hands-on assignment</a:t>
            </a:r>
            <a:endParaRPr lang="en-GB" sz="3200" b="1" dirty="0">
              <a:solidFill>
                <a:schemeClr val="bg1"/>
              </a:solidFill>
              <a:latin typeface="Franklin Gothic Book" panose="020B0503020102020204" pitchFamily="34" charset="0"/>
              <a:ea typeface="IBM Plex Mono"/>
              <a:cs typeface="IBM Plex Mono"/>
              <a:sym typeface="IBM Plex Mono"/>
            </a:endParaRPr>
          </a:p>
        </p:txBody>
      </p:sp>
      <p:sp>
        <p:nvSpPr>
          <p:cNvPr id="8" name="Google Shape;1533;p39">
            <a:extLst>
              <a:ext uri="{FF2B5EF4-FFF2-40B4-BE49-F238E27FC236}">
                <a16:creationId xmlns:a16="http://schemas.microsoft.com/office/drawing/2014/main" id="{0BE5FDE3-F5DA-46E5-B7F7-3C61A5DB46CA}"/>
              </a:ext>
            </a:extLst>
          </p:cNvPr>
          <p:cNvSpPr txBox="1">
            <a:spLocks/>
          </p:cNvSpPr>
          <p:nvPr/>
        </p:nvSpPr>
        <p:spPr>
          <a:xfrm>
            <a:off x="729330" y="1301342"/>
            <a:ext cx="10624470" cy="34572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400" dirty="0">
                <a:latin typeface="Franklin Gothic Book" panose="020B0503020102020204" pitchFamily="34" charset="0"/>
              </a:rPr>
              <a:t>You have received an order from a client to develop the backend codebase for an library management website. Using today’s slides as a guide, discuss the following?</a:t>
            </a:r>
          </a:p>
          <a:p>
            <a:pPr marL="596900" indent="-457200">
              <a:buFont typeface="+mj-lt"/>
              <a:buAutoNum type="arabicPeriod"/>
            </a:pPr>
            <a:r>
              <a:rPr lang="en-US" sz="2400" dirty="0">
                <a:latin typeface="Franklin Gothic Book" panose="020B0503020102020204" pitchFamily="34" charset="0"/>
              </a:rPr>
              <a:t>how will you setup their codebase?  What should you consider in your implementation (features, security, etc.)? You can also include a rough pencil/pen sketch (extra marks).</a:t>
            </a:r>
          </a:p>
          <a:p>
            <a:pPr marL="596900" indent="-457200">
              <a:buFont typeface="+mj-lt"/>
              <a:buAutoNum type="arabicPeriod"/>
            </a:pPr>
            <a:r>
              <a:rPr lang="en-US" sz="2400" dirty="0">
                <a:latin typeface="Franklin Gothic Book" panose="020B0503020102020204" pitchFamily="34" charset="0"/>
              </a:rPr>
              <a:t>How do you intend to stay yourself motivated as a backend engineer?</a:t>
            </a:r>
          </a:p>
        </p:txBody>
      </p:sp>
      <p:sp>
        <p:nvSpPr>
          <p:cNvPr id="3" name="Slide Number Placeholder 2">
            <a:extLst>
              <a:ext uri="{FF2B5EF4-FFF2-40B4-BE49-F238E27FC236}">
                <a16:creationId xmlns:a16="http://schemas.microsoft.com/office/drawing/2014/main" id="{41EC1B8B-2E16-4F5E-89B0-A714DB2AE9FB}"/>
              </a:ext>
            </a:extLst>
          </p:cNvPr>
          <p:cNvSpPr>
            <a:spLocks noGrp="1"/>
          </p:cNvSpPr>
          <p:nvPr>
            <p:ph type="sldNum" sz="quarter" idx="12"/>
          </p:nvPr>
        </p:nvSpPr>
        <p:spPr/>
        <p:txBody>
          <a:bodyPr/>
          <a:lstStyle/>
          <a:p>
            <a:fld id="{D31C74E5-D250-4BDE-BB1A-AE4DD479CC99}" type="slidenum">
              <a:rPr lang="en-GB" smtClean="0"/>
              <a:t>29</a:t>
            </a:fld>
            <a:endParaRPr lang="en-GB"/>
          </a:p>
        </p:txBody>
      </p:sp>
      <p:sp>
        <p:nvSpPr>
          <p:cNvPr id="6" name="Google Shape;1533;p39">
            <a:extLst>
              <a:ext uri="{FF2B5EF4-FFF2-40B4-BE49-F238E27FC236}">
                <a16:creationId xmlns:a16="http://schemas.microsoft.com/office/drawing/2014/main" id="{9774591D-769A-461D-9222-34F3DABED286}"/>
              </a:ext>
            </a:extLst>
          </p:cNvPr>
          <p:cNvSpPr txBox="1">
            <a:spLocks/>
          </p:cNvSpPr>
          <p:nvPr/>
        </p:nvSpPr>
        <p:spPr>
          <a:xfrm>
            <a:off x="783765" y="4935894"/>
            <a:ext cx="10624470" cy="11991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139700" indent="0"/>
            <a:r>
              <a:rPr lang="en-US" sz="2000" i="1" dirty="0">
                <a:latin typeface="Franklin Gothic Book" panose="020B0503020102020204" pitchFamily="34" charset="0"/>
              </a:rPr>
              <a:t>Provide your responses here - https://forms.gle/77rfGPfgYQcuhrZv9</a:t>
            </a:r>
          </a:p>
        </p:txBody>
      </p:sp>
    </p:spTree>
    <p:extLst>
      <p:ext uri="{BB962C8B-B14F-4D97-AF65-F5344CB8AC3E}">
        <p14:creationId xmlns:p14="http://schemas.microsoft.com/office/powerpoint/2010/main" val="4115562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412;p64">
            <a:extLst>
              <a:ext uri="{FF2B5EF4-FFF2-40B4-BE49-F238E27FC236}">
                <a16:creationId xmlns:a16="http://schemas.microsoft.com/office/drawing/2014/main" id="{45FEC4DD-1DBC-4E17-92A7-32F9988BAF85}"/>
              </a:ext>
            </a:extLst>
          </p:cNvPr>
          <p:cNvSpPr txBox="1">
            <a:spLocks/>
          </p:cNvSpPr>
          <p:nvPr/>
        </p:nvSpPr>
        <p:spPr>
          <a:xfrm>
            <a:off x="3007495" y="2585969"/>
            <a:ext cx="5912585" cy="32176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r>
              <a:rPr lang="en-GB" sz="9600" dirty="0">
                <a:solidFill>
                  <a:schemeClr val="tx1"/>
                </a:solidFill>
                <a:latin typeface="Franklin Gothic Book" panose="020B0503020102020204" pitchFamily="34" charset="0"/>
              </a:rPr>
              <a:t>Thank You!</a:t>
            </a:r>
          </a:p>
        </p:txBody>
      </p:sp>
      <p:sp>
        <p:nvSpPr>
          <p:cNvPr id="3" name="Slide Number Placeholder 2">
            <a:extLst>
              <a:ext uri="{FF2B5EF4-FFF2-40B4-BE49-F238E27FC236}">
                <a16:creationId xmlns:a16="http://schemas.microsoft.com/office/drawing/2014/main" id="{9E247FC3-0A73-4FED-BF86-5A3AB0A6D6C8}"/>
              </a:ext>
            </a:extLst>
          </p:cNvPr>
          <p:cNvSpPr>
            <a:spLocks noGrp="1"/>
          </p:cNvSpPr>
          <p:nvPr>
            <p:ph type="sldNum" sz="quarter" idx="12"/>
          </p:nvPr>
        </p:nvSpPr>
        <p:spPr/>
        <p:txBody>
          <a:bodyPr/>
          <a:lstStyle/>
          <a:p>
            <a:fld id="{D31C74E5-D250-4BDE-BB1A-AE4DD479CC99}" type="slidenum">
              <a:rPr lang="en-GB" smtClean="0"/>
              <a:t>30</a:t>
            </a:fld>
            <a:endParaRPr lang="en-GB"/>
          </a:p>
        </p:txBody>
      </p:sp>
    </p:spTree>
    <p:extLst>
      <p:ext uri="{BB962C8B-B14F-4D97-AF65-F5344CB8AC3E}">
        <p14:creationId xmlns:p14="http://schemas.microsoft.com/office/powerpoint/2010/main" val="2113603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1051</TotalTime>
  <Words>2436</Words>
  <Application>Microsoft Office PowerPoint</Application>
  <PresentationFormat>Widescreen</PresentationFormat>
  <Paragraphs>269</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Franklin Gothic Book</vt:lpstr>
      <vt:lpstr>IBM Plex Mono</vt:lpstr>
      <vt:lpstr>Poppins</vt:lpstr>
      <vt:lpstr>Office Theme</vt:lpstr>
      <vt:lpstr>How to Think like a Backend Developer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Think like a Backend Developer</dc:title>
  <dc:creator>tobyemmanuel</dc:creator>
  <cp:lastModifiedBy>tobyemmanuel</cp:lastModifiedBy>
  <cp:revision>71</cp:revision>
  <dcterms:created xsi:type="dcterms:W3CDTF">2024-10-11T14:36:48Z</dcterms:created>
  <dcterms:modified xsi:type="dcterms:W3CDTF">2025-08-07T16:55:16Z</dcterms:modified>
</cp:coreProperties>
</file>